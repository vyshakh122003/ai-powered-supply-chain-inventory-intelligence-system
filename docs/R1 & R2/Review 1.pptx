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12192000"/>
  <p:embeddedFontLst>
    <p:embeddedFont>
      <p:font typeface="微软雅黑" panose="020B0503020204020204" pitchFamily="34" charset="-122"/>
      <p:regular r:id="rId16"/>
      <p:bold r:id="rId17"/>
    </p:embeddedFont>
    <p:embeddedFont>
      <p:font typeface="Liter" panose="020B0604020202020204" charset="0"/>
      <p:regular r:id="rId18"/>
    </p:embeddedFont>
    <p:embeddedFont>
      <p:font typeface="Quattrocento Sans" panose="020B0502050000020003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379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675" y="1523720"/>
            <a:ext cx="2252662" cy="357468"/>
          </a:xfrm>
          <a:custGeom>
            <a:avLst/>
            <a:gdLst/>
            <a:ahLst/>
            <a:cxnLst/>
            <a:rect l="l" t="t" r="r" b="b"/>
            <a:pathLst>
              <a:path w="2252662" h="357468">
                <a:moveTo>
                  <a:pt x="63501" y="0"/>
                </a:moveTo>
                <a:lnTo>
                  <a:pt x="2189162" y="0"/>
                </a:lnTo>
                <a:cubicBezTo>
                  <a:pt x="2224232" y="0"/>
                  <a:pt x="2252662" y="31381"/>
                  <a:pt x="2252662" y="70092"/>
                </a:cubicBezTo>
                <a:lnTo>
                  <a:pt x="2252662" y="287375"/>
                </a:lnTo>
                <a:cubicBezTo>
                  <a:pt x="2252662" y="326086"/>
                  <a:pt x="2224232" y="357468"/>
                  <a:pt x="2189162" y="357468"/>
                </a:cubicBezTo>
                <a:lnTo>
                  <a:pt x="63501" y="357468"/>
                </a:lnTo>
                <a:cubicBezTo>
                  <a:pt x="28430" y="357468"/>
                  <a:pt x="0" y="326086"/>
                  <a:pt x="0" y="287375"/>
                </a:cubicBezTo>
                <a:lnTo>
                  <a:pt x="0" y="70092"/>
                </a:lnTo>
                <a:cubicBezTo>
                  <a:pt x="0" y="31381"/>
                  <a:pt x="28430" y="0"/>
                  <a:pt x="63501" y="0"/>
                </a:cubicBezTo>
                <a:close/>
              </a:path>
            </a:pathLst>
          </a:custGeom>
          <a:solidFill>
            <a:srgbClr val="C9A86C">
              <a:alpha val="14902"/>
            </a:srgbClr>
          </a:solidFill>
          <a:ln w="10160">
            <a:solidFill>
              <a:srgbClr val="C9A86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2883" y="1523720"/>
            <a:ext cx="1488246" cy="35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Senior Design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2138362"/>
            <a:ext cx="117951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Supply Chain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750" b="1" dirty="0">
                <a:solidFill>
                  <a:srgbClr val="C9A8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Inventory Intelligence</a:t>
            </a:r>
            <a:r>
              <a:rPr lang="en-US" sz="37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3519487"/>
            <a:ext cx="1165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Review-1 Presentation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5267325"/>
            <a:ext cx="11557000" cy="6350"/>
          </a:xfrm>
          <a:custGeom>
            <a:avLst/>
            <a:gdLst/>
            <a:ahLst/>
            <a:cxnLst/>
            <a:rect l="l" t="t" r="r" b="b"/>
            <a:pathLst>
              <a:path w="11557000" h="6350">
                <a:moveTo>
                  <a:pt x="0" y="0"/>
                </a:moveTo>
                <a:lnTo>
                  <a:pt x="11557000" y="0"/>
                </a:lnTo>
                <a:lnTo>
                  <a:pt x="11557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17500" y="5461000"/>
            <a:ext cx="570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E0E0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Done by: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" y="5778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A5A78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97867" y="584993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5778500"/>
            <a:ext cx="202079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Vyshakh Vijayan - 22BCB7055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67438" y="5461000"/>
            <a:ext cx="570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kern="0" spc="44" dirty="0">
                <a:solidFill>
                  <a:srgbClr val="E0E0E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3625" y="5715000"/>
            <a:ext cx="5730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VIT-AP University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500" y="593725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of Computer Science &amp; Engineering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67438" y="6191250"/>
            <a:ext cx="570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E0E0E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Computer Science and Business Systems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Motivation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13510"/>
            <a:ext cx="5589270" cy="5055870"/>
          </a:xfrm>
          <a:custGeom>
            <a:avLst/>
            <a:gdLst/>
            <a:ahLst/>
            <a:cxnLst/>
            <a:rect l="l" t="t" r="r" b="b"/>
            <a:pathLst>
              <a:path w="5589270" h="5055870">
                <a:moveTo>
                  <a:pt x="114313" y="0"/>
                </a:moveTo>
                <a:lnTo>
                  <a:pt x="5474957" y="0"/>
                </a:lnTo>
                <a:cubicBezTo>
                  <a:pt x="5538090" y="0"/>
                  <a:pt x="5589270" y="51180"/>
                  <a:pt x="5589270" y="114313"/>
                </a:cubicBezTo>
                <a:lnTo>
                  <a:pt x="5589270" y="4941557"/>
                </a:lnTo>
                <a:cubicBezTo>
                  <a:pt x="5589270" y="5004690"/>
                  <a:pt x="5538090" y="5055870"/>
                  <a:pt x="5474957" y="5055870"/>
                </a:cubicBezTo>
                <a:lnTo>
                  <a:pt x="114313" y="5055870"/>
                </a:lnTo>
                <a:cubicBezTo>
                  <a:pt x="51180" y="5055870"/>
                  <a:pt x="0" y="5004690"/>
                  <a:pt x="0" y="494155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6459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A78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0570" y="17792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722120"/>
            <a:ext cx="2162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Importance of SMEs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" y="23317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0" name="Text 8"/>
          <p:cNvSpPr/>
          <p:nvPr/>
        </p:nvSpPr>
        <p:spPr>
          <a:xfrm>
            <a:off x="807720" y="2255520"/>
            <a:ext cx="5010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and Medium Enterprises, particularly retail stores and supermarkets, form the backbone of the economy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29794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2" name="Text 10"/>
          <p:cNvSpPr/>
          <p:nvPr/>
        </p:nvSpPr>
        <p:spPr>
          <a:xfrm>
            <a:off x="807720" y="2903220"/>
            <a:ext cx="5010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businesses serve local communities and contribute significantly to employment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" y="36271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4" name="Text 12"/>
          <p:cNvSpPr/>
          <p:nvPr/>
        </p:nvSpPr>
        <p:spPr>
          <a:xfrm>
            <a:off x="807720" y="3550920"/>
            <a:ext cx="5010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their importance, most SMEs lack access to advanced technological solutions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270" y="5478781"/>
            <a:ext cx="5105400" cy="762000"/>
          </a:xfrm>
          <a:custGeom>
            <a:avLst/>
            <a:gdLst/>
            <a:ahLst/>
            <a:cxnLst/>
            <a:rect l="l" t="t" r="r" b="b"/>
            <a:pathLst>
              <a:path w="5105400" h="762000">
                <a:moveTo>
                  <a:pt x="38100" y="0"/>
                </a:moveTo>
                <a:lnTo>
                  <a:pt x="5029200" y="0"/>
                </a:lnTo>
                <a:cubicBezTo>
                  <a:pt x="5071256" y="0"/>
                  <a:pt x="5105400" y="34144"/>
                  <a:pt x="5105400" y="76200"/>
                </a:cubicBezTo>
                <a:lnTo>
                  <a:pt x="5105400" y="685800"/>
                </a:lnTo>
                <a:cubicBezTo>
                  <a:pt x="5105400" y="727856"/>
                  <a:pt x="5071256" y="762000"/>
                  <a:pt x="50292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6270" y="547878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7" name="Text 15"/>
          <p:cNvSpPr/>
          <p:nvPr/>
        </p:nvSpPr>
        <p:spPr>
          <a:xfrm>
            <a:off x="807720" y="5631181"/>
            <a:ext cx="485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"SMEs drive economic growth but remain underserved by technology providers"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06490" y="1447800"/>
            <a:ext cx="5589270" cy="1722120"/>
          </a:xfrm>
          <a:custGeom>
            <a:avLst/>
            <a:gdLst/>
            <a:ahLst/>
            <a:cxnLst/>
            <a:rect l="l" t="t" r="r" b="b"/>
            <a:pathLst>
              <a:path w="5589270" h="1722120">
                <a:moveTo>
                  <a:pt x="114297" y="0"/>
                </a:moveTo>
                <a:lnTo>
                  <a:pt x="5474973" y="0"/>
                </a:lnTo>
                <a:cubicBezTo>
                  <a:pt x="5538097" y="0"/>
                  <a:pt x="5589270" y="51173"/>
                  <a:pt x="5589270" y="114297"/>
                </a:cubicBezTo>
                <a:lnTo>
                  <a:pt x="5589270" y="1607823"/>
                </a:lnTo>
                <a:cubicBezTo>
                  <a:pt x="5589270" y="1670947"/>
                  <a:pt x="5538097" y="1722120"/>
                  <a:pt x="547497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8420" y="1607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7C88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15576" y="17125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664970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Problems with Manual Inventory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7470" y="214122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9A86C">
              <a:alpha val="7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51307" y="2103120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Error-prone manual tracking using notebooks or spreadsheets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7470" y="26555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C9A86C">
              <a:alpha val="7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51307" y="2586990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 approach rather than proactive decision-making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4110" y="3295650"/>
            <a:ext cx="5589270" cy="1722120"/>
          </a:xfrm>
          <a:custGeom>
            <a:avLst/>
            <a:gdLst/>
            <a:ahLst/>
            <a:cxnLst/>
            <a:rect l="l" t="t" r="r" b="b"/>
            <a:pathLst>
              <a:path w="5589270" h="1722120">
                <a:moveTo>
                  <a:pt x="114297" y="0"/>
                </a:moveTo>
                <a:lnTo>
                  <a:pt x="5474973" y="0"/>
                </a:lnTo>
                <a:cubicBezTo>
                  <a:pt x="5538097" y="0"/>
                  <a:pt x="5589270" y="51173"/>
                  <a:pt x="5589270" y="114297"/>
                </a:cubicBezTo>
                <a:lnTo>
                  <a:pt x="5589270" y="1607823"/>
                </a:lnTo>
                <a:cubicBezTo>
                  <a:pt x="5589270" y="1670947"/>
                  <a:pt x="5538097" y="1722120"/>
                  <a:pt x="547497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8420" y="34899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37007" y="359473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54711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for Predictive Support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27470" y="402336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3" name="Text 31"/>
          <p:cNvSpPr/>
          <p:nvPr/>
        </p:nvSpPr>
        <p:spPr>
          <a:xfrm>
            <a:off x="6651307" y="39852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stock depletion before it occurs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7470" y="432816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5" name="Text 33"/>
          <p:cNvSpPr/>
          <p:nvPr/>
        </p:nvSpPr>
        <p:spPr>
          <a:xfrm>
            <a:off x="6651307" y="429006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 reorder quantities based on data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7470" y="463296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7" name="Text 35"/>
          <p:cNvSpPr/>
          <p:nvPr/>
        </p:nvSpPr>
        <p:spPr>
          <a:xfrm>
            <a:off x="6651307" y="459486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informed supplier selection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13510"/>
            <a:ext cx="5589270" cy="1817370"/>
          </a:xfrm>
          <a:custGeom>
            <a:avLst/>
            <a:gdLst/>
            <a:ahLst/>
            <a:cxnLst/>
            <a:rect l="l" t="t" r="r" b="b"/>
            <a:pathLst>
              <a:path w="5589270" h="181737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703076"/>
                </a:lnTo>
                <a:cubicBezTo>
                  <a:pt x="5589270" y="1766199"/>
                  <a:pt x="5538099" y="1817370"/>
                  <a:pt x="547497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6078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2945" y="17602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0165" y="105906"/>
                </a:moveTo>
                <a:cubicBezTo>
                  <a:pt x="254809" y="111175"/>
                  <a:pt x="262801" y="112335"/>
                  <a:pt x="268828" y="108362"/>
                </a:cubicBezTo>
                <a:cubicBezTo>
                  <a:pt x="275392" y="103986"/>
                  <a:pt x="277178" y="95101"/>
                  <a:pt x="272802" y="88538"/>
                </a:cubicBezTo>
                <a:lnTo>
                  <a:pt x="251371" y="56391"/>
                </a:lnTo>
                <a:cubicBezTo>
                  <a:pt x="250121" y="54516"/>
                  <a:pt x="248424" y="52953"/>
                  <a:pt x="246415" y="51837"/>
                </a:cubicBezTo>
                <a:lnTo>
                  <a:pt x="156895" y="2098"/>
                </a:lnTo>
                <a:cubicBezTo>
                  <a:pt x="148277" y="-2679"/>
                  <a:pt x="137785" y="-2679"/>
                  <a:pt x="129123" y="2098"/>
                </a:cubicBezTo>
                <a:lnTo>
                  <a:pt x="39648" y="51792"/>
                </a:lnTo>
                <a:cubicBezTo>
                  <a:pt x="37237" y="53132"/>
                  <a:pt x="35317" y="55096"/>
                  <a:pt x="34022" y="57507"/>
                </a:cubicBezTo>
                <a:lnTo>
                  <a:pt x="12368" y="97646"/>
                </a:lnTo>
                <a:cubicBezTo>
                  <a:pt x="6742" y="108094"/>
                  <a:pt x="10671" y="121087"/>
                  <a:pt x="21119" y="126712"/>
                </a:cubicBezTo>
                <a:lnTo>
                  <a:pt x="35853" y="134615"/>
                </a:lnTo>
                <a:lnTo>
                  <a:pt x="35853" y="158413"/>
                </a:lnTo>
                <a:cubicBezTo>
                  <a:pt x="35853" y="168682"/>
                  <a:pt x="41389" y="178192"/>
                  <a:pt x="50319" y="183282"/>
                </a:cubicBezTo>
                <a:lnTo>
                  <a:pt x="128900" y="227796"/>
                </a:lnTo>
                <a:cubicBezTo>
                  <a:pt x="137651" y="232752"/>
                  <a:pt x="148322" y="232752"/>
                  <a:pt x="157073" y="227796"/>
                </a:cubicBezTo>
                <a:lnTo>
                  <a:pt x="235654" y="183282"/>
                </a:lnTo>
                <a:cubicBezTo>
                  <a:pt x="244629" y="178192"/>
                  <a:pt x="250121" y="168726"/>
                  <a:pt x="250121" y="158413"/>
                </a:cubicBezTo>
                <a:lnTo>
                  <a:pt x="250121" y="105951"/>
                </a:lnTo>
                <a:close/>
                <a:moveTo>
                  <a:pt x="143009" y="101531"/>
                </a:moveTo>
                <a:lnTo>
                  <a:pt x="75992" y="64294"/>
                </a:lnTo>
                <a:lnTo>
                  <a:pt x="143009" y="27057"/>
                </a:lnTo>
                <a:lnTo>
                  <a:pt x="210026" y="64294"/>
                </a:lnTo>
                <a:lnTo>
                  <a:pt x="143009" y="101531"/>
                </a:lnTo>
                <a:close/>
                <a:moveTo>
                  <a:pt x="124480" y="123944"/>
                </a:moveTo>
                <a:lnTo>
                  <a:pt x="114970" y="144572"/>
                </a:lnTo>
                <a:lnTo>
                  <a:pt x="40943" y="104924"/>
                </a:lnTo>
                <a:lnTo>
                  <a:pt x="52283" y="83850"/>
                </a:lnTo>
                <a:lnTo>
                  <a:pt x="124480" y="123944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8" name="Text 6"/>
          <p:cNvSpPr/>
          <p:nvPr/>
        </p:nvSpPr>
        <p:spPr>
          <a:xfrm>
            <a:off x="1264920" y="160782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Stockouts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4920" y="1912501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Lost Sales &amp; Customer Trust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293620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Frequent stock shortages lead to lost sales opportunities and damage customer relationships. Store owners often discover stockouts only when customers request unavailable items.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390901"/>
            <a:ext cx="5589270" cy="1569720"/>
          </a:xfrm>
          <a:custGeom>
            <a:avLst/>
            <a:gdLst/>
            <a:ahLst/>
            <a:cxnLst/>
            <a:rect l="l" t="t" r="r" b="b"/>
            <a:pathLst>
              <a:path w="5589270" h="1569720">
                <a:moveTo>
                  <a:pt x="114307" y="0"/>
                </a:moveTo>
                <a:lnTo>
                  <a:pt x="5474963" y="0"/>
                </a:lnTo>
                <a:cubicBezTo>
                  <a:pt x="5538093" y="0"/>
                  <a:pt x="5589270" y="51177"/>
                  <a:pt x="5589270" y="114307"/>
                </a:cubicBezTo>
                <a:lnTo>
                  <a:pt x="5589270" y="1455413"/>
                </a:lnTo>
                <a:cubicBezTo>
                  <a:pt x="5589270" y="1518543"/>
                  <a:pt x="5538093" y="1569720"/>
                  <a:pt x="54749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9120" y="35852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233" y="373761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63445"/>
                </a:move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07156"/>
                </a:lnTo>
                <a:cubicBezTo>
                  <a:pt x="28575" y="99253"/>
                  <a:pt x="34960" y="92869"/>
                  <a:pt x="42863" y="92869"/>
                </a:cubicBezTo>
                <a:lnTo>
                  <a:pt x="214313" y="92869"/>
                </a:lnTo>
                <a:cubicBezTo>
                  <a:pt x="222215" y="92869"/>
                  <a:pt x="228600" y="99253"/>
                  <a:pt x="228600" y="107156"/>
                </a:cubicBezTo>
                <a:lnTo>
                  <a:pt x="228600" y="214313"/>
                </a:lnTo>
                <a:cubicBezTo>
                  <a:pt x="228600" y="222215"/>
                  <a:pt x="234985" y="228600"/>
                  <a:pt x="242888" y="228600"/>
                </a:cubicBezTo>
                <a:cubicBezTo>
                  <a:pt x="250790" y="228600"/>
                  <a:pt x="257175" y="222215"/>
                  <a:pt x="257175" y="214313"/>
                </a:cubicBezTo>
                <a:lnTo>
                  <a:pt x="257175" y="63445"/>
                </a:lnTo>
                <a:cubicBezTo>
                  <a:pt x="257175" y="51167"/>
                  <a:pt x="249317" y="40228"/>
                  <a:pt x="237619" y="36344"/>
                </a:cubicBezTo>
                <a:lnTo>
                  <a:pt x="135374" y="2277"/>
                </a:lnTo>
                <a:cubicBezTo>
                  <a:pt x="130954" y="804"/>
                  <a:pt x="126221" y="804"/>
                  <a:pt x="121801" y="2277"/>
                </a:cubicBezTo>
                <a:lnTo>
                  <a:pt x="19556" y="36344"/>
                </a:lnTo>
                <a:cubicBezTo>
                  <a:pt x="7858" y="40228"/>
                  <a:pt x="0" y="51167"/>
                  <a:pt x="0" y="63445"/>
                </a:cubicBezTo>
                <a:close/>
                <a:moveTo>
                  <a:pt x="207169" y="114300"/>
                </a:moveTo>
                <a:lnTo>
                  <a:pt x="50006" y="114300"/>
                </a:lnTo>
                <a:lnTo>
                  <a:pt x="50006" y="142875"/>
                </a:lnTo>
                <a:lnTo>
                  <a:pt x="207169" y="142875"/>
                </a:lnTo>
                <a:lnTo>
                  <a:pt x="207169" y="114300"/>
                </a:lnTo>
                <a:close/>
                <a:moveTo>
                  <a:pt x="50006" y="185738"/>
                </a:moveTo>
                <a:lnTo>
                  <a:pt x="207169" y="185738"/>
                </a:lnTo>
                <a:lnTo>
                  <a:pt x="207169" y="157163"/>
                </a:lnTo>
                <a:lnTo>
                  <a:pt x="50006" y="157163"/>
                </a:lnTo>
                <a:lnTo>
                  <a:pt x="50006" y="185738"/>
                </a:lnTo>
                <a:close/>
                <a:moveTo>
                  <a:pt x="207169" y="200025"/>
                </a:moveTo>
                <a:lnTo>
                  <a:pt x="50006" y="200025"/>
                </a:lnTo>
                <a:lnTo>
                  <a:pt x="50006" y="228600"/>
                </a:lnTo>
                <a:lnTo>
                  <a:pt x="207169" y="228600"/>
                </a:lnTo>
                <a:lnTo>
                  <a:pt x="207169" y="200025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4" name="Text 12"/>
          <p:cNvSpPr/>
          <p:nvPr/>
        </p:nvSpPr>
        <p:spPr>
          <a:xfrm>
            <a:off x="1264920" y="3585211"/>
            <a:ext cx="2038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Overstocking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4920" y="388989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Cash Flow Management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120" y="4271011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Excess inventory ties up working capital and increases storage costs. Products may expire or become obsolete before being sold, resulting in financial losses.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4110" y="1413510"/>
            <a:ext cx="5589270" cy="1817370"/>
          </a:xfrm>
          <a:custGeom>
            <a:avLst/>
            <a:gdLst/>
            <a:ahLst/>
            <a:cxnLst/>
            <a:rect l="l" t="t" r="r" b="b"/>
            <a:pathLst>
              <a:path w="5589270" h="181737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703076"/>
                </a:lnTo>
                <a:cubicBezTo>
                  <a:pt x="5589270" y="1766199"/>
                  <a:pt x="5538099" y="1817370"/>
                  <a:pt x="547497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8420" y="16078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75107" y="17602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17859"/>
                </a:moveTo>
                <a:cubicBezTo>
                  <a:pt x="57150" y="7992"/>
                  <a:pt x="65142" y="0"/>
                  <a:pt x="75009" y="0"/>
                </a:cubicBezTo>
                <a:cubicBezTo>
                  <a:pt x="84877" y="0"/>
                  <a:pt x="92869" y="7992"/>
                  <a:pt x="92869" y="17859"/>
                </a:cubicBezTo>
                <a:lnTo>
                  <a:pt x="92869" y="84028"/>
                </a:lnTo>
                <a:cubicBezTo>
                  <a:pt x="96664" y="80635"/>
                  <a:pt x="101664" y="78581"/>
                  <a:pt x="107156" y="78581"/>
                </a:cubicBezTo>
                <a:cubicBezTo>
                  <a:pt x="116354" y="78581"/>
                  <a:pt x="124212" y="84386"/>
                  <a:pt x="127248" y="92512"/>
                </a:cubicBezTo>
                <a:cubicBezTo>
                  <a:pt x="131177" y="88359"/>
                  <a:pt x="136714" y="85725"/>
                  <a:pt x="142875" y="85725"/>
                </a:cubicBezTo>
                <a:cubicBezTo>
                  <a:pt x="154171" y="85725"/>
                  <a:pt x="163413" y="94431"/>
                  <a:pt x="164262" y="105504"/>
                </a:cubicBezTo>
                <a:cubicBezTo>
                  <a:pt x="168057" y="102066"/>
                  <a:pt x="173102" y="100013"/>
                  <a:pt x="178594" y="100013"/>
                </a:cubicBezTo>
                <a:cubicBezTo>
                  <a:pt x="190426" y="100013"/>
                  <a:pt x="200025" y="109612"/>
                  <a:pt x="200025" y="121444"/>
                </a:cubicBezTo>
                <a:lnTo>
                  <a:pt x="200025" y="171450"/>
                </a:lnTo>
                <a:cubicBezTo>
                  <a:pt x="200025" y="203016"/>
                  <a:pt x="174441" y="228600"/>
                  <a:pt x="142875" y="228600"/>
                </a:cubicBezTo>
                <a:lnTo>
                  <a:pt x="104790" y="228600"/>
                </a:lnTo>
                <a:cubicBezTo>
                  <a:pt x="102557" y="228600"/>
                  <a:pt x="100370" y="228466"/>
                  <a:pt x="98227" y="228154"/>
                </a:cubicBezTo>
                <a:cubicBezTo>
                  <a:pt x="73536" y="225653"/>
                  <a:pt x="50810" y="212973"/>
                  <a:pt x="35719" y="192881"/>
                </a:cubicBezTo>
                <a:lnTo>
                  <a:pt x="3572" y="150019"/>
                </a:lnTo>
                <a:cubicBezTo>
                  <a:pt x="-2366" y="142116"/>
                  <a:pt x="-759" y="130954"/>
                  <a:pt x="7144" y="125016"/>
                </a:cubicBezTo>
                <a:cubicBezTo>
                  <a:pt x="15047" y="119077"/>
                  <a:pt x="26209" y="120685"/>
                  <a:pt x="32147" y="128588"/>
                </a:cubicBezTo>
                <a:lnTo>
                  <a:pt x="57150" y="161940"/>
                </a:lnTo>
                <a:lnTo>
                  <a:pt x="57150" y="17859"/>
                </a:lnTo>
                <a:close/>
                <a:moveTo>
                  <a:pt x="107156" y="135731"/>
                </a:moveTo>
                <a:cubicBezTo>
                  <a:pt x="107156" y="131802"/>
                  <a:pt x="103942" y="128588"/>
                  <a:pt x="100013" y="128588"/>
                </a:cubicBezTo>
                <a:cubicBezTo>
                  <a:pt x="96083" y="128588"/>
                  <a:pt x="92869" y="131802"/>
                  <a:pt x="92869" y="135731"/>
                </a:cubicBezTo>
                <a:lnTo>
                  <a:pt x="92869" y="178594"/>
                </a:lnTo>
                <a:cubicBezTo>
                  <a:pt x="92869" y="182523"/>
                  <a:pt x="96083" y="185738"/>
                  <a:pt x="100013" y="185738"/>
                </a:cubicBezTo>
                <a:cubicBezTo>
                  <a:pt x="103942" y="185738"/>
                  <a:pt x="107156" y="182523"/>
                  <a:pt x="107156" y="178594"/>
                </a:cubicBezTo>
                <a:lnTo>
                  <a:pt x="107156" y="135731"/>
                </a:lnTo>
                <a:close/>
                <a:moveTo>
                  <a:pt x="128588" y="128588"/>
                </a:moveTo>
                <a:cubicBezTo>
                  <a:pt x="124658" y="128588"/>
                  <a:pt x="121444" y="131802"/>
                  <a:pt x="121444" y="135731"/>
                </a:cubicBezTo>
                <a:lnTo>
                  <a:pt x="121444" y="178594"/>
                </a:lnTo>
                <a:cubicBezTo>
                  <a:pt x="121444" y="182523"/>
                  <a:pt x="124658" y="185738"/>
                  <a:pt x="128588" y="185738"/>
                </a:cubicBezTo>
                <a:cubicBezTo>
                  <a:pt x="132517" y="185738"/>
                  <a:pt x="135731" y="182523"/>
                  <a:pt x="135731" y="178594"/>
                </a:cubicBezTo>
                <a:lnTo>
                  <a:pt x="135731" y="135731"/>
                </a:lnTo>
                <a:cubicBezTo>
                  <a:pt x="135731" y="131802"/>
                  <a:pt x="132517" y="128588"/>
                  <a:pt x="128588" y="128588"/>
                </a:cubicBezTo>
                <a:close/>
                <a:moveTo>
                  <a:pt x="164306" y="135731"/>
                </a:moveTo>
                <a:cubicBezTo>
                  <a:pt x="164306" y="131802"/>
                  <a:pt x="161092" y="128588"/>
                  <a:pt x="157163" y="128588"/>
                </a:cubicBezTo>
                <a:cubicBezTo>
                  <a:pt x="153233" y="128588"/>
                  <a:pt x="150019" y="131802"/>
                  <a:pt x="150019" y="135731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cubicBezTo>
                  <a:pt x="161092" y="185738"/>
                  <a:pt x="164306" y="182523"/>
                  <a:pt x="164306" y="178594"/>
                </a:cubicBezTo>
                <a:lnTo>
                  <a:pt x="164306" y="135731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0" name="Text 18"/>
          <p:cNvSpPr/>
          <p:nvPr/>
        </p:nvSpPr>
        <p:spPr>
          <a:xfrm>
            <a:off x="7094220" y="1607820"/>
            <a:ext cx="2771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Supplier Decisions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94220" y="1912501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Intuition-Based Selection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8420" y="2293620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 selection relies on memory and experience rather than performance metrics. Store owners cannot systematically compare suppliers based on cost, delivery time, and reliability.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4110" y="3390901"/>
            <a:ext cx="5589270" cy="1817370"/>
          </a:xfrm>
          <a:custGeom>
            <a:avLst/>
            <a:gdLst/>
            <a:ahLst/>
            <a:cxnLst/>
            <a:rect l="l" t="t" r="r" b="b"/>
            <a:pathLst>
              <a:path w="5589270" h="181737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703076"/>
                </a:lnTo>
                <a:cubicBezTo>
                  <a:pt x="5589270" y="1766199"/>
                  <a:pt x="5538099" y="1817370"/>
                  <a:pt x="547497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3A5A78">
              <a:alpha val="14902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8420" y="35852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5A78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03682" y="3737611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6" name="Text 24"/>
          <p:cNvSpPr/>
          <p:nvPr/>
        </p:nvSpPr>
        <p:spPr>
          <a:xfrm>
            <a:off x="7094220" y="3585211"/>
            <a:ext cx="289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Affordable Systems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94220" y="388989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Solutions Too Expensive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8420" y="4271011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ERP systems used by large enterprises are prohibitively expensive and complex for SMEs. Existing basic solutions lack predictive capabilities and AI assistance.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5703571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693420"/>
                </a:lnTo>
                <a:cubicBezTo>
                  <a:pt x="11418570" y="735504"/>
                  <a:pt x="11384454" y="769620"/>
                  <a:pt x="113423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859780"/>
            <a:ext cx="1118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There is a need for an affordable, easy-to-use system that assists store owners by predicting inventory risks and recommending appropriate actions before problems occur.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13510"/>
            <a:ext cx="5608320" cy="1722120"/>
          </a:xfrm>
          <a:custGeom>
            <a:avLst/>
            <a:gdLst/>
            <a:ahLst/>
            <a:cxnLst/>
            <a:rect l="l" t="t" r="r" b="b"/>
            <a:pathLst>
              <a:path w="5608320" h="1722120">
                <a:moveTo>
                  <a:pt x="114297" y="0"/>
                </a:moveTo>
                <a:lnTo>
                  <a:pt x="5494023" y="0"/>
                </a:lnTo>
                <a:cubicBezTo>
                  <a:pt x="5557147" y="0"/>
                  <a:pt x="5608320" y="51173"/>
                  <a:pt x="5608320" y="114297"/>
                </a:cubicBezTo>
                <a:lnTo>
                  <a:pt x="5608320" y="1607823"/>
                </a:lnTo>
                <a:cubicBezTo>
                  <a:pt x="5608320" y="1670947"/>
                  <a:pt x="5557147" y="1722120"/>
                  <a:pt x="549402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607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15685" y="170307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782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Simple Inventory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95072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 inventory management system specifically designed for small supermarkets with intuitive interfaces and minimal training requirements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5060" y="1413510"/>
            <a:ext cx="5608320" cy="1722120"/>
          </a:xfrm>
          <a:custGeom>
            <a:avLst/>
            <a:gdLst/>
            <a:ahLst/>
            <a:cxnLst/>
            <a:rect l="l" t="t" r="r" b="b"/>
            <a:pathLst>
              <a:path w="5608320" h="1722120">
                <a:moveTo>
                  <a:pt x="114297" y="0"/>
                </a:moveTo>
                <a:lnTo>
                  <a:pt x="5494023" y="0"/>
                </a:lnTo>
                <a:cubicBezTo>
                  <a:pt x="5557147" y="0"/>
                  <a:pt x="5608320" y="51173"/>
                  <a:pt x="5608320" y="114297"/>
                </a:cubicBezTo>
                <a:lnTo>
                  <a:pt x="5608320" y="1607823"/>
                </a:lnTo>
                <a:cubicBezTo>
                  <a:pt x="5608320" y="1670947"/>
                  <a:pt x="5557147" y="1722120"/>
                  <a:pt x="5494023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9370" y="1607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07599" y="170307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8970" y="160782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 Stockout Dates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8970" y="195072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capability to predict when products will run out of stock based on current inventory levels and historical sales patterns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810" y="3331130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114301" y="0"/>
                </a:moveTo>
                <a:lnTo>
                  <a:pt x="5494019" y="0"/>
                </a:lnTo>
                <a:cubicBezTo>
                  <a:pt x="5557146" y="0"/>
                  <a:pt x="5608320" y="51174"/>
                  <a:pt x="5608320" y="114301"/>
                </a:cubicBezTo>
                <a:lnTo>
                  <a:pt x="5608320" y="1360169"/>
                </a:lnTo>
                <a:cubicBezTo>
                  <a:pt x="5608320" y="1423296"/>
                  <a:pt x="5557146" y="1474470"/>
                  <a:pt x="549401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9120" y="35254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4849" y="3620691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525441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 Reorder Quantities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868341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intelligent suggestions for how much stock to reorder to avoid shortages while minimizing excess inventory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5060" y="3331130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114301" y="0"/>
                </a:moveTo>
                <a:lnTo>
                  <a:pt x="5494019" y="0"/>
                </a:lnTo>
                <a:cubicBezTo>
                  <a:pt x="5557146" y="0"/>
                  <a:pt x="5608320" y="51174"/>
                  <a:pt x="5608320" y="114301"/>
                </a:cubicBezTo>
                <a:lnTo>
                  <a:pt x="5608320" y="1360169"/>
                </a:lnTo>
                <a:cubicBezTo>
                  <a:pt x="5608320" y="1423296"/>
                  <a:pt x="5557146" y="1474470"/>
                  <a:pt x="549401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9370" y="35254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07718" y="3620691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8970" y="3525441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 Suppliers Systematically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8970" y="3868341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data-driven supplier selection by comparing vendors based on cost, delivery time, and reliability metrics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5001221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114301" y="0"/>
                </a:moveTo>
                <a:lnTo>
                  <a:pt x="5494019" y="0"/>
                </a:lnTo>
                <a:cubicBezTo>
                  <a:pt x="5557146" y="0"/>
                  <a:pt x="5608320" y="51174"/>
                  <a:pt x="5608320" y="114301"/>
                </a:cubicBezTo>
                <a:lnTo>
                  <a:pt x="5608320" y="1360169"/>
                </a:lnTo>
                <a:cubicBezTo>
                  <a:pt x="5608320" y="1423296"/>
                  <a:pt x="5557146" y="1474470"/>
                  <a:pt x="549401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120" y="51955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4611" y="5290782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5195532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Inventory Risks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5538432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and classify inventory-related risks such as high stockout probability or overstock situations with clear visual indicators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060" y="5001221"/>
            <a:ext cx="5608320" cy="1474470"/>
          </a:xfrm>
          <a:custGeom>
            <a:avLst/>
            <a:gdLst/>
            <a:ahLst/>
            <a:cxnLst/>
            <a:rect l="l" t="t" r="r" b="b"/>
            <a:pathLst>
              <a:path w="5608320" h="1474470">
                <a:moveTo>
                  <a:pt x="114301" y="0"/>
                </a:moveTo>
                <a:lnTo>
                  <a:pt x="5494019" y="0"/>
                </a:lnTo>
                <a:cubicBezTo>
                  <a:pt x="5557146" y="0"/>
                  <a:pt x="5608320" y="51174"/>
                  <a:pt x="5608320" y="114301"/>
                </a:cubicBezTo>
                <a:lnTo>
                  <a:pt x="5608320" y="1360169"/>
                </a:lnTo>
                <a:cubicBezTo>
                  <a:pt x="5608320" y="1423296"/>
                  <a:pt x="5557146" y="1474470"/>
                  <a:pt x="5494019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9370" y="51955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03670" y="5290782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8970" y="5195532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Manual Effort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8970" y="5538432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time spent on inventory monitoring and decision-making through automation and AI-assisted reasoning capabilities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512" y="361512"/>
            <a:ext cx="11532240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kern="0" spc="50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Boundaries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512" y="614571"/>
            <a:ext cx="11631656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2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 of the Project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512" y="1084537"/>
            <a:ext cx="723024" cy="36151"/>
          </a:xfrm>
          <a:custGeom>
            <a:avLst/>
            <a:gdLst/>
            <a:ahLst/>
            <a:cxnLst/>
            <a:rect l="l" t="t" r="r" b="b"/>
            <a:pathLst>
              <a:path w="723024" h="36151">
                <a:moveTo>
                  <a:pt x="0" y="0"/>
                </a:moveTo>
                <a:lnTo>
                  <a:pt x="723024" y="0"/>
                </a:lnTo>
                <a:lnTo>
                  <a:pt x="723024" y="36151"/>
                </a:lnTo>
                <a:lnTo>
                  <a:pt x="0" y="36151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65127" y="1341210"/>
            <a:ext cx="5619708" cy="5149742"/>
          </a:xfrm>
          <a:custGeom>
            <a:avLst/>
            <a:gdLst/>
            <a:ahLst/>
            <a:cxnLst/>
            <a:rect l="l" t="t" r="r" b="b"/>
            <a:pathLst>
              <a:path w="5619708" h="5149742">
                <a:moveTo>
                  <a:pt x="108454" y="0"/>
                </a:moveTo>
                <a:lnTo>
                  <a:pt x="5511254" y="0"/>
                </a:lnTo>
                <a:cubicBezTo>
                  <a:pt x="5571151" y="0"/>
                  <a:pt x="5619708" y="48556"/>
                  <a:pt x="5619708" y="108454"/>
                </a:cubicBezTo>
                <a:lnTo>
                  <a:pt x="5619708" y="5041288"/>
                </a:lnTo>
                <a:cubicBezTo>
                  <a:pt x="5619708" y="5101185"/>
                  <a:pt x="5571151" y="5149742"/>
                  <a:pt x="5511254" y="5149742"/>
                </a:cubicBezTo>
                <a:lnTo>
                  <a:pt x="108454" y="5149742"/>
                </a:lnTo>
                <a:cubicBezTo>
                  <a:pt x="48556" y="5149742"/>
                  <a:pt x="0" y="5101185"/>
                  <a:pt x="0" y="5041288"/>
                </a:cubicBezTo>
                <a:lnTo>
                  <a:pt x="0" y="108454"/>
                </a:lnTo>
                <a:cubicBezTo>
                  <a:pt x="0" y="48556"/>
                  <a:pt x="48556" y="0"/>
                  <a:pt x="108454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650" y="1561733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108454" y="0"/>
                </a:moveTo>
                <a:lnTo>
                  <a:pt x="325361" y="0"/>
                </a:lnTo>
                <a:cubicBezTo>
                  <a:pt x="385218" y="0"/>
                  <a:pt x="433815" y="48596"/>
                  <a:pt x="433815" y="108454"/>
                </a:cubicBezTo>
                <a:lnTo>
                  <a:pt x="433815" y="325361"/>
                </a:lnTo>
                <a:cubicBezTo>
                  <a:pt x="433815" y="385218"/>
                  <a:pt x="385218" y="433815"/>
                  <a:pt x="325361" y="433815"/>
                </a:cubicBezTo>
                <a:lnTo>
                  <a:pt x="108454" y="433815"/>
                </a:lnTo>
                <a:cubicBezTo>
                  <a:pt x="48596" y="433815"/>
                  <a:pt x="0" y="385218"/>
                  <a:pt x="0" y="325361"/>
                </a:cubicBezTo>
                <a:lnTo>
                  <a:pt x="0" y="108454"/>
                </a:lnTo>
                <a:cubicBezTo>
                  <a:pt x="0" y="48596"/>
                  <a:pt x="48596" y="0"/>
                  <a:pt x="108454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2179" y="1688263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120175" y="75091"/>
                </a:moveTo>
                <a:lnTo>
                  <a:pt x="91931" y="120280"/>
                </a:lnTo>
                <a:cubicBezTo>
                  <a:pt x="90449" y="122646"/>
                  <a:pt x="87907" y="124129"/>
                  <a:pt x="85118" y="124270"/>
                </a:cubicBezTo>
                <a:cubicBezTo>
                  <a:pt x="82329" y="124411"/>
                  <a:pt x="79646" y="123140"/>
                  <a:pt x="77986" y="120881"/>
                </a:cubicBezTo>
                <a:lnTo>
                  <a:pt x="61040" y="98286"/>
                </a:lnTo>
                <a:cubicBezTo>
                  <a:pt x="58216" y="94544"/>
                  <a:pt x="58993" y="89248"/>
                  <a:pt x="62735" y="86424"/>
                </a:cubicBezTo>
                <a:cubicBezTo>
                  <a:pt x="66477" y="83600"/>
                  <a:pt x="71773" y="84376"/>
                  <a:pt x="74597" y="88119"/>
                </a:cubicBezTo>
                <a:lnTo>
                  <a:pt x="84129" y="100828"/>
                </a:lnTo>
                <a:lnTo>
                  <a:pt x="105806" y="66124"/>
                </a:lnTo>
                <a:cubicBezTo>
                  <a:pt x="108277" y="62170"/>
                  <a:pt x="113502" y="60935"/>
                  <a:pt x="117491" y="63441"/>
                </a:cubicBezTo>
                <a:cubicBezTo>
                  <a:pt x="121481" y="65948"/>
                  <a:pt x="122681" y="71137"/>
                  <a:pt x="120175" y="75127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8" name="Text 6"/>
          <p:cNvSpPr/>
          <p:nvPr/>
        </p:nvSpPr>
        <p:spPr>
          <a:xfrm>
            <a:off x="1127918" y="1634036"/>
            <a:ext cx="939932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Scope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650" y="2176304"/>
            <a:ext cx="5178663" cy="867629"/>
          </a:xfrm>
          <a:custGeom>
            <a:avLst/>
            <a:gdLst/>
            <a:ahLst/>
            <a:cxnLst/>
            <a:rect l="l" t="t" r="r" b="b"/>
            <a:pathLst>
              <a:path w="5178663" h="867629">
                <a:moveTo>
                  <a:pt x="72300" y="0"/>
                </a:moveTo>
                <a:lnTo>
                  <a:pt x="5106363" y="0"/>
                </a:lnTo>
                <a:cubicBezTo>
                  <a:pt x="5146293" y="0"/>
                  <a:pt x="5178663" y="32370"/>
                  <a:pt x="5178663" y="72300"/>
                </a:cubicBezTo>
                <a:lnTo>
                  <a:pt x="5178663" y="795330"/>
                </a:lnTo>
                <a:cubicBezTo>
                  <a:pt x="5178663" y="835260"/>
                  <a:pt x="5146293" y="867629"/>
                  <a:pt x="5106363" y="867629"/>
                </a:cubicBezTo>
                <a:lnTo>
                  <a:pt x="72300" y="867629"/>
                </a:lnTo>
                <a:cubicBezTo>
                  <a:pt x="32396" y="867629"/>
                  <a:pt x="0" y="835233"/>
                  <a:pt x="0" y="795330"/>
                </a:cubicBezTo>
                <a:lnTo>
                  <a:pt x="0" y="72300"/>
                </a:lnTo>
                <a:cubicBezTo>
                  <a:pt x="0" y="32370"/>
                  <a:pt x="32370" y="0"/>
                  <a:pt x="72300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104" y="2357060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1" name="Text 9"/>
          <p:cNvSpPr/>
          <p:nvPr/>
        </p:nvSpPr>
        <p:spPr>
          <a:xfrm>
            <a:off x="874860" y="2284758"/>
            <a:ext cx="485330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Data Management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4860" y="2501665"/>
            <a:ext cx="4853302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Managing product inventory data including stock levels and daily sales tracking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650" y="3152387"/>
            <a:ext cx="5178663" cy="650722"/>
          </a:xfrm>
          <a:custGeom>
            <a:avLst/>
            <a:gdLst/>
            <a:ahLst/>
            <a:cxnLst/>
            <a:rect l="l" t="t" r="r" b="b"/>
            <a:pathLst>
              <a:path w="5178663" h="650722">
                <a:moveTo>
                  <a:pt x="72302" y="0"/>
                </a:moveTo>
                <a:lnTo>
                  <a:pt x="5106361" y="0"/>
                </a:lnTo>
                <a:cubicBezTo>
                  <a:pt x="5146292" y="0"/>
                  <a:pt x="5178663" y="32371"/>
                  <a:pt x="5178663" y="72302"/>
                </a:cubicBezTo>
                <a:lnTo>
                  <a:pt x="5178663" y="578420"/>
                </a:lnTo>
                <a:cubicBezTo>
                  <a:pt x="5178663" y="618351"/>
                  <a:pt x="5146292" y="650722"/>
                  <a:pt x="5106361" y="650722"/>
                </a:cubicBezTo>
                <a:lnTo>
                  <a:pt x="72302" y="650722"/>
                </a:lnTo>
                <a:cubicBezTo>
                  <a:pt x="32371" y="650722"/>
                  <a:pt x="0" y="618351"/>
                  <a:pt x="0" y="578420"/>
                </a:cubicBezTo>
                <a:lnTo>
                  <a:pt x="0" y="72302"/>
                </a:lnTo>
                <a:cubicBezTo>
                  <a:pt x="0" y="32397"/>
                  <a:pt x="32397" y="0"/>
                  <a:pt x="72302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4104" y="3333143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5" name="Text 13"/>
          <p:cNvSpPr/>
          <p:nvPr/>
        </p:nvSpPr>
        <p:spPr>
          <a:xfrm>
            <a:off x="874860" y="3260841"/>
            <a:ext cx="437429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Depletion Prediction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4860" y="3477748"/>
            <a:ext cx="437429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stock depletion timelines using logical rules and AI support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650" y="3911563"/>
            <a:ext cx="5178663" cy="650722"/>
          </a:xfrm>
          <a:custGeom>
            <a:avLst/>
            <a:gdLst/>
            <a:ahLst/>
            <a:cxnLst/>
            <a:rect l="l" t="t" r="r" b="b"/>
            <a:pathLst>
              <a:path w="5178663" h="650722">
                <a:moveTo>
                  <a:pt x="72302" y="0"/>
                </a:moveTo>
                <a:lnTo>
                  <a:pt x="5106361" y="0"/>
                </a:lnTo>
                <a:cubicBezTo>
                  <a:pt x="5146292" y="0"/>
                  <a:pt x="5178663" y="32371"/>
                  <a:pt x="5178663" y="72302"/>
                </a:cubicBezTo>
                <a:lnTo>
                  <a:pt x="5178663" y="578420"/>
                </a:lnTo>
                <a:cubicBezTo>
                  <a:pt x="5178663" y="618351"/>
                  <a:pt x="5146292" y="650722"/>
                  <a:pt x="5106361" y="650722"/>
                </a:cubicBezTo>
                <a:lnTo>
                  <a:pt x="72302" y="650722"/>
                </a:lnTo>
                <a:cubicBezTo>
                  <a:pt x="32371" y="650722"/>
                  <a:pt x="0" y="618351"/>
                  <a:pt x="0" y="578420"/>
                </a:cubicBezTo>
                <a:lnTo>
                  <a:pt x="0" y="72302"/>
                </a:lnTo>
                <a:cubicBezTo>
                  <a:pt x="0" y="32397"/>
                  <a:pt x="32397" y="0"/>
                  <a:pt x="72302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4104" y="4092319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9" name="Text 17"/>
          <p:cNvSpPr/>
          <p:nvPr/>
        </p:nvSpPr>
        <p:spPr>
          <a:xfrm>
            <a:off x="874860" y="4020016"/>
            <a:ext cx="424776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Reorder &amp; Supplier Recommendations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4860" y="4236924"/>
            <a:ext cx="424776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Providing reorder suggestions and supplier comparison capabilities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5650" y="4670738"/>
            <a:ext cx="5178663" cy="650722"/>
          </a:xfrm>
          <a:custGeom>
            <a:avLst/>
            <a:gdLst/>
            <a:ahLst/>
            <a:cxnLst/>
            <a:rect l="l" t="t" r="r" b="b"/>
            <a:pathLst>
              <a:path w="5178663" h="650722">
                <a:moveTo>
                  <a:pt x="72302" y="0"/>
                </a:moveTo>
                <a:lnTo>
                  <a:pt x="5106361" y="0"/>
                </a:lnTo>
                <a:cubicBezTo>
                  <a:pt x="5146292" y="0"/>
                  <a:pt x="5178663" y="32371"/>
                  <a:pt x="5178663" y="72302"/>
                </a:cubicBezTo>
                <a:lnTo>
                  <a:pt x="5178663" y="578420"/>
                </a:lnTo>
                <a:cubicBezTo>
                  <a:pt x="5178663" y="618351"/>
                  <a:pt x="5146292" y="650722"/>
                  <a:pt x="5106361" y="650722"/>
                </a:cubicBezTo>
                <a:lnTo>
                  <a:pt x="72302" y="650722"/>
                </a:lnTo>
                <a:cubicBezTo>
                  <a:pt x="32371" y="650722"/>
                  <a:pt x="0" y="618351"/>
                  <a:pt x="0" y="578420"/>
                </a:cubicBezTo>
                <a:lnTo>
                  <a:pt x="0" y="72302"/>
                </a:lnTo>
                <a:cubicBezTo>
                  <a:pt x="0" y="32397"/>
                  <a:pt x="32397" y="0"/>
                  <a:pt x="72302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4104" y="4851495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3" name="Text 21"/>
          <p:cNvSpPr/>
          <p:nvPr/>
        </p:nvSpPr>
        <p:spPr>
          <a:xfrm>
            <a:off x="874860" y="4779192"/>
            <a:ext cx="434718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Dashboard Display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4860" y="4996099"/>
            <a:ext cx="434718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Displaying insights through a simple web-based dashboard interface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5650" y="5429914"/>
            <a:ext cx="5178663" cy="650722"/>
          </a:xfrm>
          <a:custGeom>
            <a:avLst/>
            <a:gdLst/>
            <a:ahLst/>
            <a:cxnLst/>
            <a:rect l="l" t="t" r="r" b="b"/>
            <a:pathLst>
              <a:path w="5178663" h="650722">
                <a:moveTo>
                  <a:pt x="72302" y="0"/>
                </a:moveTo>
                <a:lnTo>
                  <a:pt x="5106361" y="0"/>
                </a:lnTo>
                <a:cubicBezTo>
                  <a:pt x="5146292" y="0"/>
                  <a:pt x="5178663" y="32371"/>
                  <a:pt x="5178663" y="72302"/>
                </a:cubicBezTo>
                <a:lnTo>
                  <a:pt x="5178663" y="578420"/>
                </a:lnTo>
                <a:cubicBezTo>
                  <a:pt x="5178663" y="618351"/>
                  <a:pt x="5146292" y="650722"/>
                  <a:pt x="5106361" y="650722"/>
                </a:cubicBezTo>
                <a:lnTo>
                  <a:pt x="72302" y="650722"/>
                </a:lnTo>
                <a:cubicBezTo>
                  <a:pt x="32371" y="650722"/>
                  <a:pt x="0" y="618351"/>
                  <a:pt x="0" y="578420"/>
                </a:cubicBezTo>
                <a:lnTo>
                  <a:pt x="0" y="72302"/>
                </a:lnTo>
                <a:cubicBezTo>
                  <a:pt x="0" y="32397"/>
                  <a:pt x="32397" y="0"/>
                  <a:pt x="72302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4104" y="5610670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7" name="Text 25"/>
          <p:cNvSpPr/>
          <p:nvPr/>
        </p:nvSpPr>
        <p:spPr>
          <a:xfrm>
            <a:off x="874860" y="5538368"/>
            <a:ext cx="402182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Store Support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4860" y="5755275"/>
            <a:ext cx="402182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Supporting a single store (small supermarket) use case scenario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9538" y="1341210"/>
            <a:ext cx="5619708" cy="5149742"/>
          </a:xfrm>
          <a:custGeom>
            <a:avLst/>
            <a:gdLst/>
            <a:ahLst/>
            <a:cxnLst/>
            <a:rect l="l" t="t" r="r" b="b"/>
            <a:pathLst>
              <a:path w="5619708" h="5149742">
                <a:moveTo>
                  <a:pt x="108454" y="0"/>
                </a:moveTo>
                <a:lnTo>
                  <a:pt x="5511254" y="0"/>
                </a:lnTo>
                <a:cubicBezTo>
                  <a:pt x="5571151" y="0"/>
                  <a:pt x="5619708" y="48556"/>
                  <a:pt x="5619708" y="108454"/>
                </a:cubicBezTo>
                <a:lnTo>
                  <a:pt x="5619708" y="5041288"/>
                </a:lnTo>
                <a:cubicBezTo>
                  <a:pt x="5619708" y="5101185"/>
                  <a:pt x="5571151" y="5149742"/>
                  <a:pt x="5511254" y="5149742"/>
                </a:cubicBezTo>
                <a:lnTo>
                  <a:pt x="108454" y="5149742"/>
                </a:lnTo>
                <a:cubicBezTo>
                  <a:pt x="48556" y="5149742"/>
                  <a:pt x="0" y="5101185"/>
                  <a:pt x="0" y="5041288"/>
                </a:cubicBezTo>
                <a:lnTo>
                  <a:pt x="0" y="108454"/>
                </a:lnTo>
                <a:cubicBezTo>
                  <a:pt x="0" y="48556"/>
                  <a:pt x="48556" y="0"/>
                  <a:pt x="108454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0060" y="1561733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108454" y="0"/>
                </a:moveTo>
                <a:lnTo>
                  <a:pt x="325361" y="0"/>
                </a:lnTo>
                <a:cubicBezTo>
                  <a:pt x="385218" y="0"/>
                  <a:pt x="433815" y="48596"/>
                  <a:pt x="433815" y="108454"/>
                </a:cubicBezTo>
                <a:lnTo>
                  <a:pt x="433815" y="325361"/>
                </a:lnTo>
                <a:cubicBezTo>
                  <a:pt x="433815" y="385218"/>
                  <a:pt x="385218" y="433815"/>
                  <a:pt x="325361" y="433815"/>
                </a:cubicBezTo>
                <a:lnTo>
                  <a:pt x="108454" y="433815"/>
                </a:lnTo>
                <a:cubicBezTo>
                  <a:pt x="48596" y="433815"/>
                  <a:pt x="0" y="385218"/>
                  <a:pt x="0" y="325361"/>
                </a:cubicBezTo>
                <a:lnTo>
                  <a:pt x="0" y="108454"/>
                </a:lnTo>
                <a:cubicBezTo>
                  <a:pt x="0" y="48596"/>
                  <a:pt x="48596" y="0"/>
                  <a:pt x="108454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56589" y="1688263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58958" y="58958"/>
                </a:moveTo>
                <a:cubicBezTo>
                  <a:pt x="62276" y="55639"/>
                  <a:pt x="67642" y="55639"/>
                  <a:pt x="70926" y="58958"/>
                </a:cubicBezTo>
                <a:lnTo>
                  <a:pt x="90343" y="78375"/>
                </a:lnTo>
                <a:lnTo>
                  <a:pt x="109760" y="58958"/>
                </a:lnTo>
                <a:cubicBezTo>
                  <a:pt x="113078" y="55639"/>
                  <a:pt x="118445" y="55639"/>
                  <a:pt x="121728" y="58958"/>
                </a:cubicBezTo>
                <a:cubicBezTo>
                  <a:pt x="125011" y="62276"/>
                  <a:pt x="125047" y="67642"/>
                  <a:pt x="121728" y="70926"/>
                </a:cubicBezTo>
                <a:lnTo>
                  <a:pt x="102311" y="90343"/>
                </a:lnTo>
                <a:lnTo>
                  <a:pt x="121728" y="109760"/>
                </a:lnTo>
                <a:cubicBezTo>
                  <a:pt x="125047" y="113078"/>
                  <a:pt x="125047" y="118445"/>
                  <a:pt x="121728" y="121728"/>
                </a:cubicBezTo>
                <a:cubicBezTo>
                  <a:pt x="118409" y="125011"/>
                  <a:pt x="113043" y="125047"/>
                  <a:pt x="109760" y="121728"/>
                </a:cubicBezTo>
                <a:lnTo>
                  <a:pt x="90343" y="102311"/>
                </a:lnTo>
                <a:lnTo>
                  <a:pt x="70926" y="121728"/>
                </a:lnTo>
                <a:cubicBezTo>
                  <a:pt x="67607" y="125047"/>
                  <a:pt x="62241" y="125047"/>
                  <a:pt x="58958" y="121728"/>
                </a:cubicBezTo>
                <a:cubicBezTo>
                  <a:pt x="55674" y="118409"/>
                  <a:pt x="55639" y="113043"/>
                  <a:pt x="58958" y="109760"/>
                </a:cubicBezTo>
                <a:lnTo>
                  <a:pt x="78375" y="90343"/>
                </a:lnTo>
                <a:lnTo>
                  <a:pt x="58958" y="70926"/>
                </a:lnTo>
                <a:cubicBezTo>
                  <a:pt x="55639" y="67607"/>
                  <a:pt x="55639" y="62241"/>
                  <a:pt x="58958" y="58958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2" name="Text 30"/>
          <p:cNvSpPr/>
          <p:nvPr/>
        </p:nvSpPr>
        <p:spPr>
          <a:xfrm>
            <a:off x="6972328" y="1634036"/>
            <a:ext cx="1355671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30060" y="2176304"/>
            <a:ext cx="5178663" cy="650722"/>
          </a:xfrm>
          <a:custGeom>
            <a:avLst/>
            <a:gdLst/>
            <a:ahLst/>
            <a:cxnLst/>
            <a:rect l="l" t="t" r="r" b="b"/>
            <a:pathLst>
              <a:path w="5178663" h="650722">
                <a:moveTo>
                  <a:pt x="72302" y="0"/>
                </a:moveTo>
                <a:lnTo>
                  <a:pt x="5106361" y="0"/>
                </a:lnTo>
                <a:cubicBezTo>
                  <a:pt x="5146292" y="0"/>
                  <a:pt x="5178663" y="32371"/>
                  <a:pt x="5178663" y="72302"/>
                </a:cubicBezTo>
                <a:lnTo>
                  <a:pt x="5178663" y="578420"/>
                </a:lnTo>
                <a:cubicBezTo>
                  <a:pt x="5178663" y="618351"/>
                  <a:pt x="5146292" y="650722"/>
                  <a:pt x="5106361" y="650722"/>
                </a:cubicBezTo>
                <a:lnTo>
                  <a:pt x="72302" y="650722"/>
                </a:lnTo>
                <a:cubicBezTo>
                  <a:pt x="32371" y="650722"/>
                  <a:pt x="0" y="618351"/>
                  <a:pt x="0" y="578420"/>
                </a:cubicBezTo>
                <a:lnTo>
                  <a:pt x="0" y="72302"/>
                </a:lnTo>
                <a:cubicBezTo>
                  <a:pt x="0" y="32397"/>
                  <a:pt x="32397" y="0"/>
                  <a:pt x="72302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38514" y="2357060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719270" y="2284758"/>
            <a:ext cx="442852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Processing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19270" y="2501665"/>
            <a:ext cx="442852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with payment gateways or transaction processing systems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0060" y="2935480"/>
            <a:ext cx="5178663" cy="650722"/>
          </a:xfrm>
          <a:custGeom>
            <a:avLst/>
            <a:gdLst/>
            <a:ahLst/>
            <a:cxnLst/>
            <a:rect l="l" t="t" r="r" b="b"/>
            <a:pathLst>
              <a:path w="5178663" h="650722">
                <a:moveTo>
                  <a:pt x="72302" y="0"/>
                </a:moveTo>
                <a:lnTo>
                  <a:pt x="5106361" y="0"/>
                </a:lnTo>
                <a:cubicBezTo>
                  <a:pt x="5146292" y="0"/>
                  <a:pt x="5178663" y="32371"/>
                  <a:pt x="5178663" y="72302"/>
                </a:cubicBezTo>
                <a:lnTo>
                  <a:pt x="5178663" y="578420"/>
                </a:lnTo>
                <a:cubicBezTo>
                  <a:pt x="5178663" y="618351"/>
                  <a:pt x="5146292" y="650722"/>
                  <a:pt x="5106361" y="650722"/>
                </a:cubicBezTo>
                <a:lnTo>
                  <a:pt x="72302" y="650722"/>
                </a:lnTo>
                <a:cubicBezTo>
                  <a:pt x="32371" y="650722"/>
                  <a:pt x="0" y="618351"/>
                  <a:pt x="0" y="578420"/>
                </a:cubicBezTo>
                <a:lnTo>
                  <a:pt x="0" y="72302"/>
                </a:lnTo>
                <a:cubicBezTo>
                  <a:pt x="0" y="32397"/>
                  <a:pt x="32397" y="0"/>
                  <a:pt x="72302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38514" y="3116236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719270" y="3043933"/>
            <a:ext cx="456409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POS Integration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19270" y="3260841"/>
            <a:ext cx="456409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integration with Point of Sale systems for automatic sales updates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30060" y="3694655"/>
            <a:ext cx="5178663" cy="650722"/>
          </a:xfrm>
          <a:custGeom>
            <a:avLst/>
            <a:gdLst/>
            <a:ahLst/>
            <a:cxnLst/>
            <a:rect l="l" t="t" r="r" b="b"/>
            <a:pathLst>
              <a:path w="5178663" h="650722">
                <a:moveTo>
                  <a:pt x="72302" y="0"/>
                </a:moveTo>
                <a:lnTo>
                  <a:pt x="5106361" y="0"/>
                </a:lnTo>
                <a:cubicBezTo>
                  <a:pt x="5146292" y="0"/>
                  <a:pt x="5178663" y="32371"/>
                  <a:pt x="5178663" y="72302"/>
                </a:cubicBezTo>
                <a:lnTo>
                  <a:pt x="5178663" y="578420"/>
                </a:lnTo>
                <a:cubicBezTo>
                  <a:pt x="5178663" y="618351"/>
                  <a:pt x="5146292" y="650722"/>
                  <a:pt x="5106361" y="650722"/>
                </a:cubicBezTo>
                <a:lnTo>
                  <a:pt x="72302" y="650722"/>
                </a:lnTo>
                <a:cubicBezTo>
                  <a:pt x="32371" y="650722"/>
                  <a:pt x="0" y="618351"/>
                  <a:pt x="0" y="578420"/>
                </a:cubicBezTo>
                <a:lnTo>
                  <a:pt x="0" y="72302"/>
                </a:lnTo>
                <a:cubicBezTo>
                  <a:pt x="0" y="32397"/>
                  <a:pt x="32397" y="0"/>
                  <a:pt x="72302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38514" y="3875412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719270" y="3803109"/>
            <a:ext cx="479907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Supplier Website Scraping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19270" y="4020016"/>
            <a:ext cx="479907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data extraction from supplier websites or external price tracking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30060" y="4453831"/>
            <a:ext cx="5178663" cy="867629"/>
          </a:xfrm>
          <a:custGeom>
            <a:avLst/>
            <a:gdLst/>
            <a:ahLst/>
            <a:cxnLst/>
            <a:rect l="l" t="t" r="r" b="b"/>
            <a:pathLst>
              <a:path w="5178663" h="867629">
                <a:moveTo>
                  <a:pt x="72300" y="0"/>
                </a:moveTo>
                <a:lnTo>
                  <a:pt x="5106363" y="0"/>
                </a:lnTo>
                <a:cubicBezTo>
                  <a:pt x="5146293" y="0"/>
                  <a:pt x="5178663" y="32370"/>
                  <a:pt x="5178663" y="72300"/>
                </a:cubicBezTo>
                <a:lnTo>
                  <a:pt x="5178663" y="795330"/>
                </a:lnTo>
                <a:cubicBezTo>
                  <a:pt x="5178663" y="835260"/>
                  <a:pt x="5146293" y="867629"/>
                  <a:pt x="5106363" y="867629"/>
                </a:cubicBezTo>
                <a:lnTo>
                  <a:pt x="72300" y="867629"/>
                </a:lnTo>
                <a:cubicBezTo>
                  <a:pt x="32396" y="867629"/>
                  <a:pt x="0" y="835233"/>
                  <a:pt x="0" y="795330"/>
                </a:cubicBezTo>
                <a:lnTo>
                  <a:pt x="0" y="72300"/>
                </a:lnTo>
                <a:cubicBezTo>
                  <a:pt x="0" y="32370"/>
                  <a:pt x="32370" y="0"/>
                  <a:pt x="72300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38514" y="4634587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C9A86C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719270" y="4562285"/>
            <a:ext cx="4853302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Automation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19270" y="4779192"/>
            <a:ext cx="4853302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automation of ordering and inventory decisions without human oversight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33675" y="5469681"/>
            <a:ext cx="5167817" cy="730255"/>
          </a:xfrm>
          <a:custGeom>
            <a:avLst/>
            <a:gdLst/>
            <a:ahLst/>
            <a:cxnLst/>
            <a:rect l="l" t="t" r="r" b="b"/>
            <a:pathLst>
              <a:path w="5167817" h="730255">
                <a:moveTo>
                  <a:pt x="72303" y="0"/>
                </a:moveTo>
                <a:lnTo>
                  <a:pt x="5095515" y="0"/>
                </a:lnTo>
                <a:cubicBezTo>
                  <a:pt x="5135446" y="0"/>
                  <a:pt x="5167817" y="32371"/>
                  <a:pt x="5167817" y="72303"/>
                </a:cubicBezTo>
                <a:lnTo>
                  <a:pt x="5167817" y="657952"/>
                </a:lnTo>
                <a:cubicBezTo>
                  <a:pt x="5167817" y="697884"/>
                  <a:pt x="5135446" y="730255"/>
                  <a:pt x="5095515" y="730255"/>
                </a:cubicBezTo>
                <a:lnTo>
                  <a:pt x="72303" y="730255"/>
                </a:lnTo>
                <a:cubicBezTo>
                  <a:pt x="32371" y="730255"/>
                  <a:pt x="0" y="697884"/>
                  <a:pt x="0" y="657952"/>
                </a:cubicBezTo>
                <a:lnTo>
                  <a:pt x="0" y="72303"/>
                </a:lnTo>
                <a:cubicBezTo>
                  <a:pt x="0" y="32398"/>
                  <a:pt x="32398" y="0"/>
                  <a:pt x="72303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1895" y="5617901"/>
            <a:ext cx="4943680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Focus:</a:t>
            </a:r>
            <a:r>
              <a:rPr lang="en-US" sz="113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Decision support rather than full automation - the system assists store owners in making informed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Background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Survey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13510"/>
            <a:ext cx="3674745" cy="4131945"/>
          </a:xfrm>
          <a:custGeom>
            <a:avLst/>
            <a:gdLst/>
            <a:ahLst/>
            <a:cxnLst/>
            <a:rect l="l" t="t" r="r" b="b"/>
            <a:pathLst>
              <a:path w="3674745" h="41319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4017660"/>
                </a:lnTo>
                <a:cubicBezTo>
                  <a:pt x="3674745" y="4080736"/>
                  <a:pt x="3623536" y="4131945"/>
                  <a:pt x="3560460" y="4131945"/>
                </a:cubicBezTo>
                <a:lnTo>
                  <a:pt x="114285" y="4131945"/>
                </a:lnTo>
                <a:cubicBezTo>
                  <a:pt x="51209" y="4131945"/>
                  <a:pt x="0" y="4080736"/>
                  <a:pt x="0" y="40176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0564" y="17411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703073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217423"/>
            <a:ext cx="3286125" cy="952500"/>
          </a:xfrm>
          <a:custGeom>
            <a:avLst/>
            <a:gdLst/>
            <a:ahLst/>
            <a:cxnLst/>
            <a:rect l="l" t="t" r="r" b="b"/>
            <a:pathLst>
              <a:path w="3286125" h="9525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876300"/>
                </a:lnTo>
                <a:cubicBezTo>
                  <a:pt x="3286125" y="918356"/>
                  <a:pt x="3251981" y="952500"/>
                  <a:pt x="32099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3420" y="2331723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420" y="2598423"/>
            <a:ext cx="313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tracking stock levels and triggering alerts when inventory falls below thresholds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9120" y="3284223"/>
            <a:ext cx="3286125" cy="1181100"/>
          </a:xfrm>
          <a:custGeom>
            <a:avLst/>
            <a:gdLst/>
            <a:ahLst/>
            <a:cxnLst/>
            <a:rect l="l" t="t" r="r" b="b"/>
            <a:pathLst>
              <a:path w="3286125" h="1181100">
                <a:moveTo>
                  <a:pt x="76205" y="0"/>
                </a:moveTo>
                <a:lnTo>
                  <a:pt x="3209920" y="0"/>
                </a:lnTo>
                <a:cubicBezTo>
                  <a:pt x="3251979" y="0"/>
                  <a:pt x="3286125" y="34146"/>
                  <a:pt x="3286125" y="76205"/>
                </a:cubicBezTo>
                <a:lnTo>
                  <a:pt x="3286125" y="1104895"/>
                </a:lnTo>
                <a:cubicBezTo>
                  <a:pt x="3286125" y="1146982"/>
                  <a:pt x="3252007" y="1181100"/>
                  <a:pt x="320992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93420" y="3398523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Data Dependency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3420" y="3665223"/>
            <a:ext cx="3133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Rely heavily on past sales data with limited ability to respond to dynamic market conditions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2930" y="4652010"/>
            <a:ext cx="3274695" cy="693420"/>
          </a:xfrm>
          <a:custGeom>
            <a:avLst/>
            <a:gdLst/>
            <a:ahLst/>
            <a:cxnLst/>
            <a:rect l="l" t="t" r="r" b="b"/>
            <a:pathLst>
              <a:path w="3274695" h="693420">
                <a:moveTo>
                  <a:pt x="76200" y="0"/>
                </a:moveTo>
                <a:lnTo>
                  <a:pt x="3198495" y="0"/>
                </a:lnTo>
                <a:cubicBezTo>
                  <a:pt x="3240579" y="0"/>
                  <a:pt x="3274695" y="34116"/>
                  <a:pt x="3274695" y="76200"/>
                </a:cubicBezTo>
                <a:lnTo>
                  <a:pt x="3274695" y="617220"/>
                </a:lnTo>
                <a:cubicBezTo>
                  <a:pt x="3274695" y="659304"/>
                  <a:pt x="3240579" y="693420"/>
                  <a:pt x="319849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1040" y="4770123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Cannot predict future stockouts proactively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8270" y="1413510"/>
            <a:ext cx="3674745" cy="4131945"/>
          </a:xfrm>
          <a:custGeom>
            <a:avLst/>
            <a:gdLst/>
            <a:ahLst/>
            <a:cxnLst/>
            <a:rect l="l" t="t" r="r" b="b"/>
            <a:pathLst>
              <a:path w="3674745" h="41319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4017660"/>
                </a:lnTo>
                <a:cubicBezTo>
                  <a:pt x="3674745" y="4080736"/>
                  <a:pt x="3623536" y="4131945"/>
                  <a:pt x="3560460" y="4131945"/>
                </a:cubicBezTo>
                <a:lnTo>
                  <a:pt x="114285" y="4131945"/>
                </a:lnTo>
                <a:cubicBezTo>
                  <a:pt x="51209" y="4131945"/>
                  <a:pt x="0" y="4080736"/>
                  <a:pt x="0" y="40176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2580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85930" y="17411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4081" y="1703073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Forecasting Methods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52580" y="2217423"/>
            <a:ext cx="3286125" cy="1181100"/>
          </a:xfrm>
          <a:custGeom>
            <a:avLst/>
            <a:gdLst/>
            <a:ahLst/>
            <a:cxnLst/>
            <a:rect l="l" t="t" r="r" b="b"/>
            <a:pathLst>
              <a:path w="3286125" h="1181100">
                <a:moveTo>
                  <a:pt x="76205" y="0"/>
                </a:moveTo>
                <a:lnTo>
                  <a:pt x="3209920" y="0"/>
                </a:lnTo>
                <a:cubicBezTo>
                  <a:pt x="3251979" y="0"/>
                  <a:pt x="3286125" y="34146"/>
                  <a:pt x="3286125" y="76205"/>
                </a:cubicBezTo>
                <a:lnTo>
                  <a:pt x="3286125" y="1104895"/>
                </a:lnTo>
                <a:cubicBezTo>
                  <a:pt x="3286125" y="1146982"/>
                  <a:pt x="3252007" y="1181100"/>
                  <a:pt x="320992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66880" y="2331723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&amp; ML Models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66880" y="2598423"/>
            <a:ext cx="3133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Various approaches using statistical and machine learning models for demand forecasting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52580" y="3512823"/>
            <a:ext cx="3286125" cy="952500"/>
          </a:xfrm>
          <a:custGeom>
            <a:avLst/>
            <a:gdLst/>
            <a:ahLst/>
            <a:cxnLst/>
            <a:rect l="l" t="t" r="r" b="b"/>
            <a:pathLst>
              <a:path w="3286125" h="9525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876300"/>
                </a:lnTo>
                <a:cubicBezTo>
                  <a:pt x="3286125" y="918356"/>
                  <a:pt x="3251981" y="952500"/>
                  <a:pt x="32099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66880" y="3627123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Enterprise-Focused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66880" y="3893823"/>
            <a:ext cx="3133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extensive training data and are typically implemented in large enterprises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56390" y="4652010"/>
            <a:ext cx="3274695" cy="693420"/>
          </a:xfrm>
          <a:custGeom>
            <a:avLst/>
            <a:gdLst/>
            <a:ahLst/>
            <a:cxnLst/>
            <a:rect l="l" t="t" r="r" b="b"/>
            <a:pathLst>
              <a:path w="3274695" h="693420">
                <a:moveTo>
                  <a:pt x="76200" y="0"/>
                </a:moveTo>
                <a:lnTo>
                  <a:pt x="3198495" y="0"/>
                </a:lnTo>
                <a:cubicBezTo>
                  <a:pt x="3240579" y="0"/>
                  <a:pt x="3274695" y="34116"/>
                  <a:pt x="3274695" y="76200"/>
                </a:cubicBezTo>
                <a:lnTo>
                  <a:pt x="3274695" y="617220"/>
                </a:lnTo>
                <a:cubicBezTo>
                  <a:pt x="3274695" y="659304"/>
                  <a:pt x="3240579" y="693420"/>
                  <a:pt x="319849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4500" y="4770123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feasible for SMEs due to cost and complexity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1731" y="1413510"/>
            <a:ext cx="3674745" cy="4131945"/>
          </a:xfrm>
          <a:custGeom>
            <a:avLst/>
            <a:gdLst/>
            <a:ahLst/>
            <a:cxnLst/>
            <a:rect l="l" t="t" r="r" b="b"/>
            <a:pathLst>
              <a:path w="3674745" h="4131945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4017660"/>
                </a:lnTo>
                <a:cubicBezTo>
                  <a:pt x="3674745" y="4080736"/>
                  <a:pt x="3623536" y="4131945"/>
                  <a:pt x="3560460" y="4131945"/>
                </a:cubicBezTo>
                <a:lnTo>
                  <a:pt x="114285" y="4131945"/>
                </a:lnTo>
                <a:cubicBezTo>
                  <a:pt x="51209" y="4131945"/>
                  <a:pt x="0" y="4080736"/>
                  <a:pt x="0" y="4017660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6041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59391" y="17411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2" name="Text 30"/>
          <p:cNvSpPr/>
          <p:nvPr/>
        </p:nvSpPr>
        <p:spPr>
          <a:xfrm>
            <a:off x="8897541" y="1703073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29851" y="2221233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47961" y="2339341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Integration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47961" y="2606041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components studied separately rather than as integrated workflow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29851" y="3303269"/>
            <a:ext cx="3274695" cy="960120"/>
          </a:xfrm>
          <a:custGeom>
            <a:avLst/>
            <a:gdLst/>
            <a:ahLst/>
            <a:cxnLst/>
            <a:rect l="l" t="t" r="r" b="b"/>
            <a:pathLst>
              <a:path w="3274695" h="960120">
                <a:moveTo>
                  <a:pt x="76205" y="0"/>
                </a:moveTo>
                <a:lnTo>
                  <a:pt x="3198490" y="0"/>
                </a:lnTo>
                <a:cubicBezTo>
                  <a:pt x="3240577" y="0"/>
                  <a:pt x="3274695" y="34118"/>
                  <a:pt x="3274695" y="76205"/>
                </a:cubicBezTo>
                <a:lnTo>
                  <a:pt x="3274695" y="883915"/>
                </a:lnTo>
                <a:cubicBezTo>
                  <a:pt x="3274695" y="926002"/>
                  <a:pt x="3240577" y="960120"/>
                  <a:pt x="319849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7961" y="3421382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SME-Oriented Gap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47961" y="3688082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affordable, integrated systems combining automation + AI for SMEs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29851" y="4652010"/>
            <a:ext cx="3274695" cy="693420"/>
          </a:xfrm>
          <a:custGeom>
            <a:avLst/>
            <a:gdLst/>
            <a:ahLst/>
            <a:cxnLst/>
            <a:rect l="l" t="t" r="r" b="b"/>
            <a:pathLst>
              <a:path w="3274695" h="693420">
                <a:moveTo>
                  <a:pt x="76200" y="0"/>
                </a:moveTo>
                <a:lnTo>
                  <a:pt x="3198495" y="0"/>
                </a:lnTo>
                <a:cubicBezTo>
                  <a:pt x="3240579" y="0"/>
                  <a:pt x="3274695" y="34116"/>
                  <a:pt x="3274695" y="76200"/>
                </a:cubicBezTo>
                <a:lnTo>
                  <a:pt x="3274695" y="617220"/>
                </a:lnTo>
                <a:cubicBezTo>
                  <a:pt x="3274695" y="659304"/>
                  <a:pt x="3240579" y="693420"/>
                  <a:pt x="319849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47961" y="4770123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Opportunity: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Low-cost, workflow-based AI assistance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5703569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693420"/>
                </a:lnTo>
                <a:cubicBezTo>
                  <a:pt x="11418570" y="735504"/>
                  <a:pt x="11384454" y="769620"/>
                  <a:pt x="113423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A78">
              <a:alpha val="14902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859782"/>
            <a:ext cx="1118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forecasting, supplier selection, and inventory control have been studied independently, there is a clear gap in developing an affordable, integrated, SME-focused system using workflow automation and AI assistance.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413510"/>
            <a:ext cx="5589270" cy="1703070"/>
          </a:xfrm>
          <a:custGeom>
            <a:avLst/>
            <a:gdLst/>
            <a:ahLst/>
            <a:cxnLst/>
            <a:rect l="l" t="t" r="r" b="b"/>
            <a:pathLst>
              <a:path w="5589270" h="1703070">
                <a:moveTo>
                  <a:pt x="114293" y="0"/>
                </a:moveTo>
                <a:lnTo>
                  <a:pt x="5474977" y="0"/>
                </a:lnTo>
                <a:cubicBezTo>
                  <a:pt x="5538099" y="0"/>
                  <a:pt x="5589270" y="51171"/>
                  <a:pt x="5589270" y="114293"/>
                </a:cubicBezTo>
                <a:lnTo>
                  <a:pt x="5589270" y="1588777"/>
                </a:lnTo>
                <a:cubicBezTo>
                  <a:pt x="5589270" y="1651899"/>
                  <a:pt x="5538099" y="1703070"/>
                  <a:pt x="5474977" y="1703070"/>
                </a:cubicBezTo>
                <a:lnTo>
                  <a:pt x="114293" y="1703070"/>
                </a:lnTo>
                <a:cubicBezTo>
                  <a:pt x="51171" y="1703070"/>
                  <a:pt x="0" y="1651899"/>
                  <a:pt x="0" y="15887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2470" y="17411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684023"/>
            <a:ext cx="2390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AI-Assisted Reasoning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179323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AI logic to explain stockout predictions and suggest reorder quantities in an understandable manner, helping store owners make informed decisions without requiring data science expertise.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3276601"/>
            <a:ext cx="5589270" cy="1703070"/>
          </a:xfrm>
          <a:custGeom>
            <a:avLst/>
            <a:gdLst/>
            <a:ahLst/>
            <a:cxnLst/>
            <a:rect l="l" t="t" r="r" b="b"/>
            <a:pathLst>
              <a:path w="5589270" h="1703070">
                <a:moveTo>
                  <a:pt x="114293" y="0"/>
                </a:moveTo>
                <a:lnTo>
                  <a:pt x="5474977" y="0"/>
                </a:lnTo>
                <a:cubicBezTo>
                  <a:pt x="5538099" y="0"/>
                  <a:pt x="5589270" y="51171"/>
                  <a:pt x="5589270" y="114293"/>
                </a:cubicBezTo>
                <a:lnTo>
                  <a:pt x="5589270" y="1588777"/>
                </a:lnTo>
                <a:cubicBezTo>
                  <a:pt x="5589270" y="1651899"/>
                  <a:pt x="5538099" y="1703070"/>
                  <a:pt x="5474977" y="1703070"/>
                </a:cubicBezTo>
                <a:lnTo>
                  <a:pt x="114293" y="1703070"/>
                </a:lnTo>
                <a:cubicBezTo>
                  <a:pt x="51171" y="1703070"/>
                  <a:pt x="0" y="1651899"/>
                  <a:pt x="0" y="15887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9120" y="34709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2470" y="36042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3" name="Text 11"/>
          <p:cNvSpPr/>
          <p:nvPr/>
        </p:nvSpPr>
        <p:spPr>
          <a:xfrm>
            <a:off x="1150620" y="3547109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Workflow-Driven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9120" y="4042409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modular automation workflows using n8n platform, enabling clear separation of concerns and easy maintenance. Each workflow handles a specific function from data ingestion to risk classification.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4110" y="1413510"/>
            <a:ext cx="5589270" cy="1703070"/>
          </a:xfrm>
          <a:custGeom>
            <a:avLst/>
            <a:gdLst/>
            <a:ahLst/>
            <a:cxnLst/>
            <a:rect l="l" t="t" r="r" b="b"/>
            <a:pathLst>
              <a:path w="5589270" h="1703070">
                <a:moveTo>
                  <a:pt x="114293" y="0"/>
                </a:moveTo>
                <a:lnTo>
                  <a:pt x="5474977" y="0"/>
                </a:lnTo>
                <a:cubicBezTo>
                  <a:pt x="5538099" y="0"/>
                  <a:pt x="5589270" y="51171"/>
                  <a:pt x="5589270" y="114293"/>
                </a:cubicBezTo>
                <a:lnTo>
                  <a:pt x="5589270" y="1588777"/>
                </a:lnTo>
                <a:cubicBezTo>
                  <a:pt x="5589270" y="1651899"/>
                  <a:pt x="5538099" y="1703070"/>
                  <a:pt x="5474977" y="1703070"/>
                </a:cubicBezTo>
                <a:lnTo>
                  <a:pt x="114293" y="1703070"/>
                </a:lnTo>
                <a:cubicBezTo>
                  <a:pt x="51171" y="1703070"/>
                  <a:pt x="0" y="1651899"/>
                  <a:pt x="0" y="15887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8420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29864" y="17411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000" y="67382"/>
                </a:moveTo>
                <a:lnTo>
                  <a:pt x="29133" y="25078"/>
                </a:lnTo>
                <a:cubicBezTo>
                  <a:pt x="33189" y="17004"/>
                  <a:pt x="41411" y="11906"/>
                  <a:pt x="50453" y="11906"/>
                </a:cubicBezTo>
                <a:lnTo>
                  <a:pt x="163897" y="11906"/>
                </a:lnTo>
                <a:cubicBezTo>
                  <a:pt x="172901" y="11906"/>
                  <a:pt x="181161" y="17004"/>
                  <a:pt x="185179" y="25078"/>
                </a:cubicBezTo>
                <a:lnTo>
                  <a:pt x="206313" y="67382"/>
                </a:lnTo>
                <a:cubicBezTo>
                  <a:pt x="207652" y="70061"/>
                  <a:pt x="208359" y="73000"/>
                  <a:pt x="208359" y="76014"/>
                </a:cubicBezTo>
                <a:cubicBezTo>
                  <a:pt x="208359" y="86171"/>
                  <a:pt x="200471" y="94506"/>
                  <a:pt x="190500" y="95213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cubicBezTo>
                  <a:pt x="172008" y="178594"/>
                  <a:pt x="166688" y="173273"/>
                  <a:pt x="166688" y="166688"/>
                </a:cubicBezTo>
                <a:lnTo>
                  <a:pt x="166688" y="95250"/>
                </a:lnTo>
                <a:lnTo>
                  <a:pt x="130969" y="95250"/>
                </a:lnTo>
                <a:lnTo>
                  <a:pt x="130969" y="160734"/>
                </a:lnTo>
                <a:cubicBezTo>
                  <a:pt x="130969" y="170594"/>
                  <a:pt x="122969" y="178594"/>
                  <a:pt x="113109" y="178594"/>
                </a:cubicBezTo>
                <a:lnTo>
                  <a:pt x="41672" y="178594"/>
                </a:lnTo>
                <a:cubicBezTo>
                  <a:pt x="31812" y="178594"/>
                  <a:pt x="23812" y="170594"/>
                  <a:pt x="23812" y="160734"/>
                </a:cubicBezTo>
                <a:lnTo>
                  <a:pt x="23812" y="95213"/>
                </a:lnTo>
                <a:cubicBezTo>
                  <a:pt x="13841" y="94506"/>
                  <a:pt x="5953" y="86171"/>
                  <a:pt x="5953" y="76014"/>
                </a:cubicBezTo>
                <a:cubicBezTo>
                  <a:pt x="5953" y="73037"/>
                  <a:pt x="6660" y="70061"/>
                  <a:pt x="8000" y="67382"/>
                </a:cubicBezTo>
                <a:close/>
                <a:moveTo>
                  <a:pt x="47625" y="95250"/>
                </a:moveTo>
                <a:lnTo>
                  <a:pt x="47625" y="136922"/>
                </a:lnTo>
                <a:cubicBezTo>
                  <a:pt x="47625" y="140196"/>
                  <a:pt x="50304" y="142875"/>
                  <a:pt x="53578" y="142875"/>
                </a:cubicBezTo>
                <a:lnTo>
                  <a:pt x="101203" y="142875"/>
                </a:lnTo>
                <a:cubicBezTo>
                  <a:pt x="104477" y="142875"/>
                  <a:pt x="107156" y="140196"/>
                  <a:pt x="107156" y="136922"/>
                </a:cubicBezTo>
                <a:lnTo>
                  <a:pt x="107156" y="95250"/>
                </a:lnTo>
                <a:lnTo>
                  <a:pt x="47625" y="9525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8" name="Text 16"/>
          <p:cNvSpPr/>
          <p:nvPr/>
        </p:nvSpPr>
        <p:spPr>
          <a:xfrm>
            <a:off x="6979920" y="1684023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SME-Focused Design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8420" y="2179323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Specifically designed for small supermarkets and retail stores with intuitive interfaces and minimal technical requirements. No specialized training needed for store owners to use the system effectively.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4110" y="3276601"/>
            <a:ext cx="5589270" cy="1703070"/>
          </a:xfrm>
          <a:custGeom>
            <a:avLst/>
            <a:gdLst/>
            <a:ahLst/>
            <a:cxnLst/>
            <a:rect l="l" t="t" r="r" b="b"/>
            <a:pathLst>
              <a:path w="5589270" h="1703070">
                <a:moveTo>
                  <a:pt x="114293" y="0"/>
                </a:moveTo>
                <a:lnTo>
                  <a:pt x="5474977" y="0"/>
                </a:lnTo>
                <a:cubicBezTo>
                  <a:pt x="5538099" y="0"/>
                  <a:pt x="5589270" y="51171"/>
                  <a:pt x="5589270" y="114293"/>
                </a:cubicBezTo>
                <a:lnTo>
                  <a:pt x="5589270" y="1588777"/>
                </a:lnTo>
                <a:cubicBezTo>
                  <a:pt x="5589270" y="1651899"/>
                  <a:pt x="5538099" y="1703070"/>
                  <a:pt x="5474977" y="1703070"/>
                </a:cubicBezTo>
                <a:lnTo>
                  <a:pt x="114293" y="1703070"/>
                </a:lnTo>
                <a:cubicBezTo>
                  <a:pt x="51171" y="1703070"/>
                  <a:pt x="0" y="1651899"/>
                  <a:pt x="0" y="15887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3A5A78">
              <a:alpha val="14902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8420" y="34709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A78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53676" y="360425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3" name="Text 21"/>
          <p:cNvSpPr/>
          <p:nvPr/>
        </p:nvSpPr>
        <p:spPr>
          <a:xfrm>
            <a:off x="6979920" y="3547109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Low-Cost &amp; Scalable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8420" y="4042409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Utilizes free-tier cloud services and no-code tools to minimize costs while maintaining scalability. The modular design allows future enhancements without major architectural changes.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5436869"/>
            <a:ext cx="2731770" cy="1036320"/>
          </a:xfrm>
          <a:custGeom>
            <a:avLst/>
            <a:gdLst/>
            <a:ahLst/>
            <a:cxnLst/>
            <a:rect l="l" t="t" r="r" b="b"/>
            <a:pathLst>
              <a:path w="2731770" h="1036320">
                <a:moveTo>
                  <a:pt x="76201" y="0"/>
                </a:moveTo>
                <a:lnTo>
                  <a:pt x="2655569" y="0"/>
                </a:lnTo>
                <a:cubicBezTo>
                  <a:pt x="2697654" y="0"/>
                  <a:pt x="2731770" y="34116"/>
                  <a:pt x="2731770" y="76201"/>
                </a:cubicBezTo>
                <a:lnTo>
                  <a:pt x="2731770" y="960119"/>
                </a:lnTo>
                <a:cubicBezTo>
                  <a:pt x="2731770" y="1002204"/>
                  <a:pt x="2697654" y="1036320"/>
                  <a:pt x="26555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9725" y="559308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5897882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Logic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7682" y="6126482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reasoning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80410" y="5436869"/>
            <a:ext cx="2731770" cy="1036320"/>
          </a:xfrm>
          <a:custGeom>
            <a:avLst/>
            <a:gdLst/>
            <a:ahLst/>
            <a:cxnLst/>
            <a:rect l="l" t="t" r="r" b="b"/>
            <a:pathLst>
              <a:path w="2731770" h="1036320">
                <a:moveTo>
                  <a:pt x="76201" y="0"/>
                </a:moveTo>
                <a:lnTo>
                  <a:pt x="2655569" y="0"/>
                </a:lnTo>
                <a:cubicBezTo>
                  <a:pt x="2697654" y="0"/>
                  <a:pt x="2731770" y="34116"/>
                  <a:pt x="2731770" y="76201"/>
                </a:cubicBezTo>
                <a:lnTo>
                  <a:pt x="2731770" y="960119"/>
                </a:lnTo>
                <a:cubicBezTo>
                  <a:pt x="2731770" y="1002204"/>
                  <a:pt x="2697654" y="1036320"/>
                  <a:pt x="26555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 w="10160">
            <a:solidFill>
              <a:srgbClr val="5E7C88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5325" y="559308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1" name="Text 29"/>
          <p:cNvSpPr/>
          <p:nvPr/>
        </p:nvSpPr>
        <p:spPr>
          <a:xfrm>
            <a:off x="3398520" y="5897882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Engine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03283" y="6126482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n8n workflows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6010" y="5436869"/>
            <a:ext cx="2731770" cy="1036320"/>
          </a:xfrm>
          <a:custGeom>
            <a:avLst/>
            <a:gdLst/>
            <a:ahLst/>
            <a:cxnLst/>
            <a:rect l="l" t="t" r="r" b="b"/>
            <a:pathLst>
              <a:path w="2731770" h="1036320">
                <a:moveTo>
                  <a:pt x="76201" y="0"/>
                </a:moveTo>
                <a:lnTo>
                  <a:pt x="2655569" y="0"/>
                </a:lnTo>
                <a:cubicBezTo>
                  <a:pt x="2697654" y="0"/>
                  <a:pt x="2731770" y="34116"/>
                  <a:pt x="2731770" y="76201"/>
                </a:cubicBezTo>
                <a:lnTo>
                  <a:pt x="2731770" y="960119"/>
                </a:lnTo>
                <a:cubicBezTo>
                  <a:pt x="2731770" y="1002204"/>
                  <a:pt x="2697654" y="1036320"/>
                  <a:pt x="26555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43788" y="559308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5" name="Text 33"/>
          <p:cNvSpPr/>
          <p:nvPr/>
        </p:nvSpPr>
        <p:spPr>
          <a:xfrm>
            <a:off x="6294120" y="5897882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98882" y="6126482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database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71610" y="5436869"/>
            <a:ext cx="2731770" cy="1036320"/>
          </a:xfrm>
          <a:custGeom>
            <a:avLst/>
            <a:gdLst/>
            <a:ahLst/>
            <a:cxnLst/>
            <a:rect l="l" t="t" r="r" b="b"/>
            <a:pathLst>
              <a:path w="2731770" h="1036320">
                <a:moveTo>
                  <a:pt x="76201" y="0"/>
                </a:moveTo>
                <a:lnTo>
                  <a:pt x="2655569" y="0"/>
                </a:lnTo>
                <a:cubicBezTo>
                  <a:pt x="2697654" y="0"/>
                  <a:pt x="2731770" y="34116"/>
                  <a:pt x="2731770" y="76201"/>
                </a:cubicBezTo>
                <a:lnTo>
                  <a:pt x="2731770" y="960119"/>
                </a:lnTo>
                <a:cubicBezTo>
                  <a:pt x="2731770" y="1002204"/>
                  <a:pt x="2697654" y="1036320"/>
                  <a:pt x="2655569" y="1036320"/>
                </a:cubicBezTo>
                <a:lnTo>
                  <a:pt x="76201" y="1036320"/>
                </a:lnTo>
                <a:cubicBezTo>
                  <a:pt x="34116" y="1036320"/>
                  <a:pt x="0" y="1002204"/>
                  <a:pt x="0" y="960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25100" y="55930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9" name="Text 37"/>
          <p:cNvSpPr/>
          <p:nvPr/>
        </p:nvSpPr>
        <p:spPr>
          <a:xfrm>
            <a:off x="9189720" y="5897882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94482" y="6126482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668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" y="1261110"/>
            <a:ext cx="6865620" cy="5208270"/>
          </a:xfrm>
          <a:custGeom>
            <a:avLst/>
            <a:gdLst/>
            <a:ahLst/>
            <a:cxnLst/>
            <a:rect l="l" t="t" r="r" b="b"/>
            <a:pathLst>
              <a:path w="6865620" h="5208270">
                <a:moveTo>
                  <a:pt x="114322" y="0"/>
                </a:moveTo>
                <a:lnTo>
                  <a:pt x="6751298" y="0"/>
                </a:lnTo>
                <a:cubicBezTo>
                  <a:pt x="6814437" y="0"/>
                  <a:pt x="6865620" y="51183"/>
                  <a:pt x="6865620" y="114322"/>
                </a:cubicBezTo>
                <a:lnTo>
                  <a:pt x="6865620" y="5093948"/>
                </a:lnTo>
                <a:cubicBezTo>
                  <a:pt x="6865620" y="5157087"/>
                  <a:pt x="6814437" y="5208270"/>
                  <a:pt x="6751298" y="5208270"/>
                </a:cubicBezTo>
                <a:lnTo>
                  <a:pt x="114322" y="5208270"/>
                </a:lnTo>
                <a:cubicBezTo>
                  <a:pt x="51183" y="5208270"/>
                  <a:pt x="0" y="5157087"/>
                  <a:pt x="0" y="5093948"/>
                </a:cubicBezTo>
                <a:lnTo>
                  <a:pt x="0" y="114322"/>
                </a:lnTo>
                <a:cubicBezTo>
                  <a:pt x="0" y="51183"/>
                  <a:pt x="51183" y="0"/>
                  <a:pt x="114322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395" y="1417323"/>
            <a:ext cx="664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4830" y="2647951"/>
            <a:ext cx="6541770" cy="655320"/>
          </a:xfrm>
          <a:custGeom>
            <a:avLst/>
            <a:gdLst/>
            <a:ahLst/>
            <a:cxnLst/>
            <a:rect l="l" t="t" r="r" b="b"/>
            <a:pathLst>
              <a:path w="6541770" h="655320">
                <a:moveTo>
                  <a:pt x="76201" y="0"/>
                </a:moveTo>
                <a:lnTo>
                  <a:pt x="6465569" y="0"/>
                </a:lnTo>
                <a:cubicBezTo>
                  <a:pt x="6507654" y="0"/>
                  <a:pt x="6541770" y="34116"/>
                  <a:pt x="6541770" y="76201"/>
                </a:cubicBezTo>
                <a:lnTo>
                  <a:pt x="6541770" y="579119"/>
                </a:lnTo>
                <a:cubicBezTo>
                  <a:pt x="6541770" y="621204"/>
                  <a:pt x="6507654" y="655320"/>
                  <a:pt x="6465569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9A86C">
              <a:alpha val="14902"/>
            </a:srgbClr>
          </a:solidFill>
          <a:ln w="10160">
            <a:solidFill>
              <a:srgbClr val="C9A86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840" y="27470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190" y="28803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0" name="Text 8"/>
          <p:cNvSpPr/>
          <p:nvPr/>
        </p:nvSpPr>
        <p:spPr>
          <a:xfrm>
            <a:off x="1196340" y="2727959"/>
            <a:ext cx="589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6340" y="2994659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Low-code dashboard for data entry and visualization (planned)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54874" y="3383282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830" y="3634742"/>
            <a:ext cx="6541770" cy="655320"/>
          </a:xfrm>
          <a:custGeom>
            <a:avLst/>
            <a:gdLst/>
            <a:ahLst/>
            <a:cxnLst/>
            <a:rect l="l" t="t" r="r" b="b"/>
            <a:pathLst>
              <a:path w="6541770" h="655320">
                <a:moveTo>
                  <a:pt x="76201" y="0"/>
                </a:moveTo>
                <a:lnTo>
                  <a:pt x="6465569" y="0"/>
                </a:lnTo>
                <a:cubicBezTo>
                  <a:pt x="6507654" y="0"/>
                  <a:pt x="6541770" y="34116"/>
                  <a:pt x="6541770" y="76201"/>
                </a:cubicBezTo>
                <a:lnTo>
                  <a:pt x="6541770" y="579119"/>
                </a:lnTo>
                <a:cubicBezTo>
                  <a:pt x="6541770" y="621204"/>
                  <a:pt x="6507654" y="655320"/>
                  <a:pt x="6465569" y="655320"/>
                </a:cubicBezTo>
                <a:lnTo>
                  <a:pt x="76201" y="655320"/>
                </a:lnTo>
                <a:cubicBezTo>
                  <a:pt x="34116" y="655320"/>
                  <a:pt x="0" y="621204"/>
                  <a:pt x="0" y="579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840" y="3733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A78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8190" y="3867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6" name="Text 14"/>
          <p:cNvSpPr/>
          <p:nvPr/>
        </p:nvSpPr>
        <p:spPr>
          <a:xfrm>
            <a:off x="1196340" y="3714750"/>
            <a:ext cx="589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Workflows (n8n)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6340" y="3981450"/>
            <a:ext cx="588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automation workflows for data processing and logic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33443" y="437007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6155" y="168302"/>
                </a:moveTo>
                <a:lnTo>
                  <a:pt x="168302" y="136155"/>
                </a:lnTo>
                <a:cubicBezTo>
                  <a:pt x="171383" y="133075"/>
                  <a:pt x="172287" y="128487"/>
                  <a:pt x="170613" y="124469"/>
                </a:cubicBezTo>
                <a:cubicBezTo>
                  <a:pt x="168939" y="120450"/>
                  <a:pt x="165054" y="117872"/>
                  <a:pt x="160734" y="117872"/>
                </a:cubicBezTo>
                <a:lnTo>
                  <a:pt x="139303" y="117872"/>
                </a:lnTo>
                <a:lnTo>
                  <a:pt x="139303" y="10716"/>
                </a:lnTo>
                <a:cubicBezTo>
                  <a:pt x="139303" y="4789"/>
                  <a:pt x="134515" y="0"/>
                  <a:pt x="128588" y="0"/>
                </a:cubicBezTo>
                <a:cubicBezTo>
                  <a:pt x="122660" y="0"/>
                  <a:pt x="117872" y="4789"/>
                  <a:pt x="117872" y="10716"/>
                </a:cubicBezTo>
                <a:lnTo>
                  <a:pt x="117872" y="117872"/>
                </a:lnTo>
                <a:lnTo>
                  <a:pt x="96441" y="117872"/>
                </a:lnTo>
                <a:cubicBezTo>
                  <a:pt x="92121" y="117872"/>
                  <a:pt x="88203" y="120484"/>
                  <a:pt x="86529" y="124502"/>
                </a:cubicBezTo>
                <a:cubicBezTo>
                  <a:pt x="84854" y="128521"/>
                  <a:pt x="85792" y="133108"/>
                  <a:pt x="88839" y="136189"/>
                </a:cubicBezTo>
                <a:lnTo>
                  <a:pt x="120986" y="168336"/>
                </a:lnTo>
                <a:cubicBezTo>
                  <a:pt x="125172" y="172522"/>
                  <a:pt x="131970" y="172522"/>
                  <a:pt x="136155" y="168336"/>
                </a:cubicBezTo>
                <a:close/>
                <a:moveTo>
                  <a:pt x="50430" y="3148"/>
                </a:moveTo>
                <a:cubicBezTo>
                  <a:pt x="46245" y="-1038"/>
                  <a:pt x="39447" y="-1038"/>
                  <a:pt x="35261" y="3148"/>
                </a:cubicBezTo>
                <a:lnTo>
                  <a:pt x="3114" y="35295"/>
                </a:lnTo>
                <a:cubicBezTo>
                  <a:pt x="33" y="38375"/>
                  <a:pt x="-871" y="42963"/>
                  <a:pt x="804" y="46981"/>
                </a:cubicBezTo>
                <a:cubicBezTo>
                  <a:pt x="2478" y="51000"/>
                  <a:pt x="6396" y="53578"/>
                  <a:pt x="10716" y="53578"/>
                </a:cubicBezTo>
                <a:lnTo>
                  <a:pt x="32147" y="53578"/>
                </a:lnTo>
                <a:lnTo>
                  <a:pt x="32147" y="160734"/>
                </a:lnTo>
                <a:cubicBezTo>
                  <a:pt x="32147" y="166661"/>
                  <a:pt x="36935" y="171450"/>
                  <a:pt x="42863" y="171450"/>
                </a:cubicBezTo>
                <a:cubicBezTo>
                  <a:pt x="48790" y="171450"/>
                  <a:pt x="53578" y="166661"/>
                  <a:pt x="53578" y="160734"/>
                </a:cubicBezTo>
                <a:lnTo>
                  <a:pt x="53578" y="53578"/>
                </a:lnTo>
                <a:lnTo>
                  <a:pt x="75009" y="53578"/>
                </a:lnTo>
                <a:cubicBezTo>
                  <a:pt x="79329" y="53578"/>
                  <a:pt x="83247" y="50966"/>
                  <a:pt x="84921" y="46948"/>
                </a:cubicBezTo>
                <a:cubicBezTo>
                  <a:pt x="86596" y="42929"/>
                  <a:pt x="85658" y="38342"/>
                  <a:pt x="82611" y="35261"/>
                </a:cubicBezTo>
                <a:lnTo>
                  <a:pt x="50464" y="3114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830" y="4621533"/>
            <a:ext cx="3208020" cy="807720"/>
          </a:xfrm>
          <a:custGeom>
            <a:avLst/>
            <a:gdLst/>
            <a:ahLst/>
            <a:cxnLst/>
            <a:rect l="l" t="t" r="r" b="b"/>
            <a:pathLst>
              <a:path w="3208020" h="807720">
                <a:moveTo>
                  <a:pt x="76200" y="0"/>
                </a:moveTo>
                <a:lnTo>
                  <a:pt x="3131820" y="0"/>
                </a:lnTo>
                <a:cubicBezTo>
                  <a:pt x="3173904" y="0"/>
                  <a:pt x="3208020" y="34116"/>
                  <a:pt x="3208020" y="76200"/>
                </a:cubicBezTo>
                <a:lnTo>
                  <a:pt x="3208020" y="731520"/>
                </a:lnTo>
                <a:cubicBezTo>
                  <a:pt x="3208020" y="773604"/>
                  <a:pt x="3173904" y="807720"/>
                  <a:pt x="313182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 w="10160">
            <a:solidFill>
              <a:srgbClr val="5E7C8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840" y="47015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7C88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8665" y="48158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40" y="4777741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4840" y="5120641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 (PostgreSQL)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77747" y="4621533"/>
            <a:ext cx="3208020" cy="807720"/>
          </a:xfrm>
          <a:custGeom>
            <a:avLst/>
            <a:gdLst/>
            <a:ahLst/>
            <a:cxnLst/>
            <a:rect l="l" t="t" r="r" b="b"/>
            <a:pathLst>
              <a:path w="3208020" h="807720">
                <a:moveTo>
                  <a:pt x="76200" y="0"/>
                </a:moveTo>
                <a:lnTo>
                  <a:pt x="3131820" y="0"/>
                </a:lnTo>
                <a:cubicBezTo>
                  <a:pt x="3173904" y="0"/>
                  <a:pt x="3208020" y="34116"/>
                  <a:pt x="3208020" y="76200"/>
                </a:cubicBezTo>
                <a:lnTo>
                  <a:pt x="3208020" y="731520"/>
                </a:lnTo>
                <a:cubicBezTo>
                  <a:pt x="3208020" y="773604"/>
                  <a:pt x="3173904" y="807720"/>
                  <a:pt x="313182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9A86C">
              <a:alpha val="14902"/>
            </a:srgbClr>
          </a:solidFill>
          <a:ln w="10160">
            <a:solidFill>
              <a:srgbClr val="C9A86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57757" y="47015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72057" y="48158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7" name="Text 25"/>
          <p:cNvSpPr/>
          <p:nvPr/>
        </p:nvSpPr>
        <p:spPr>
          <a:xfrm>
            <a:off x="4414957" y="4777741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Logic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57757" y="5120641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LLM-based reasoning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47002" y="1261110"/>
            <a:ext cx="4360545" cy="3712845"/>
          </a:xfrm>
          <a:custGeom>
            <a:avLst/>
            <a:gdLst/>
            <a:ahLst/>
            <a:cxnLst/>
            <a:rect l="l" t="t" r="r" b="b"/>
            <a:pathLst>
              <a:path w="4360545" h="3712845">
                <a:moveTo>
                  <a:pt x="114318" y="0"/>
                </a:moveTo>
                <a:lnTo>
                  <a:pt x="4246227" y="0"/>
                </a:lnTo>
                <a:cubicBezTo>
                  <a:pt x="4309363" y="0"/>
                  <a:pt x="4360545" y="51182"/>
                  <a:pt x="4360545" y="114318"/>
                </a:cubicBezTo>
                <a:lnTo>
                  <a:pt x="4360545" y="3598527"/>
                </a:lnTo>
                <a:cubicBezTo>
                  <a:pt x="4360545" y="3661663"/>
                  <a:pt x="4309363" y="3712845"/>
                  <a:pt x="4246227" y="3712845"/>
                </a:cubicBezTo>
                <a:lnTo>
                  <a:pt x="114318" y="3712845"/>
                </a:lnTo>
                <a:cubicBezTo>
                  <a:pt x="51182" y="3712845"/>
                  <a:pt x="0" y="3661663"/>
                  <a:pt x="0" y="359852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5112" y="1379223"/>
            <a:ext cx="421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65112" y="1806536"/>
            <a:ext cx="4124325" cy="819150"/>
          </a:xfrm>
          <a:custGeom>
            <a:avLst/>
            <a:gdLst/>
            <a:ahLst/>
            <a:cxnLst/>
            <a:rect l="l" t="t" r="r" b="b"/>
            <a:pathLst>
              <a:path w="4124325" h="819150">
                <a:moveTo>
                  <a:pt x="76197" y="0"/>
                </a:moveTo>
                <a:lnTo>
                  <a:pt x="4048128" y="0"/>
                </a:lnTo>
                <a:cubicBezTo>
                  <a:pt x="4090210" y="0"/>
                  <a:pt x="4124325" y="34115"/>
                  <a:pt x="4124325" y="76197"/>
                </a:cubicBezTo>
                <a:lnTo>
                  <a:pt x="4124325" y="742953"/>
                </a:lnTo>
                <a:cubicBezTo>
                  <a:pt x="4124325" y="785035"/>
                  <a:pt x="4090210" y="819150"/>
                  <a:pt x="4048128" y="819150"/>
                </a:cubicBezTo>
                <a:lnTo>
                  <a:pt x="76197" y="819150"/>
                </a:lnTo>
                <a:cubicBezTo>
                  <a:pt x="34115" y="819150"/>
                  <a:pt x="0" y="785035"/>
                  <a:pt x="0" y="7429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60362" y="19132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3" name="Text 31"/>
          <p:cNvSpPr/>
          <p:nvPr/>
        </p:nvSpPr>
        <p:spPr>
          <a:xfrm>
            <a:off x="7888962" y="1882736"/>
            <a:ext cx="380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Workflow Design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41312" y="2130386"/>
            <a:ext cx="4048125" cy="419100"/>
          </a:xfrm>
          <a:prstGeom prst="rect">
            <a:avLst/>
          </a:prstGeom>
          <a:noFill/>
          <a:ln/>
        </p:spPr>
        <p:txBody>
          <a:bodyPr wrap="square" lIns="2286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function is isolated in separate workflows for maintainability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65112" y="2870834"/>
            <a:ext cx="4124325" cy="819150"/>
          </a:xfrm>
          <a:custGeom>
            <a:avLst/>
            <a:gdLst/>
            <a:ahLst/>
            <a:cxnLst/>
            <a:rect l="l" t="t" r="r" b="b"/>
            <a:pathLst>
              <a:path w="4124325" h="819150">
                <a:moveTo>
                  <a:pt x="76197" y="0"/>
                </a:moveTo>
                <a:lnTo>
                  <a:pt x="4048128" y="0"/>
                </a:lnTo>
                <a:cubicBezTo>
                  <a:pt x="4090210" y="0"/>
                  <a:pt x="4124325" y="34115"/>
                  <a:pt x="4124325" y="76197"/>
                </a:cubicBezTo>
                <a:lnTo>
                  <a:pt x="4124325" y="742953"/>
                </a:lnTo>
                <a:cubicBezTo>
                  <a:pt x="4124325" y="785035"/>
                  <a:pt x="4090210" y="819150"/>
                  <a:pt x="4048128" y="819150"/>
                </a:cubicBezTo>
                <a:lnTo>
                  <a:pt x="76197" y="819150"/>
                </a:lnTo>
                <a:cubicBezTo>
                  <a:pt x="34115" y="819150"/>
                  <a:pt x="0" y="785035"/>
                  <a:pt x="0" y="7429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660362" y="29775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7" name="Text 35"/>
          <p:cNvSpPr/>
          <p:nvPr/>
        </p:nvSpPr>
        <p:spPr>
          <a:xfrm>
            <a:off x="7888962" y="2947034"/>
            <a:ext cx="380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41312" y="3194684"/>
            <a:ext cx="4048125" cy="419100"/>
          </a:xfrm>
          <a:prstGeom prst="rect">
            <a:avLst/>
          </a:prstGeom>
          <a:noFill/>
          <a:ln/>
        </p:spPr>
        <p:txBody>
          <a:bodyPr wrap="square" lIns="2286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ingestion, processing, and classification are handled separately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68922" y="3938826"/>
            <a:ext cx="4112895" cy="826770"/>
          </a:xfrm>
          <a:custGeom>
            <a:avLst/>
            <a:gdLst/>
            <a:ahLst/>
            <a:cxnLst/>
            <a:rect l="l" t="t" r="r" b="b"/>
            <a:pathLst>
              <a:path w="4112895" h="826770">
                <a:moveTo>
                  <a:pt x="76203" y="0"/>
                </a:moveTo>
                <a:lnTo>
                  <a:pt x="4036692" y="0"/>
                </a:lnTo>
                <a:cubicBezTo>
                  <a:pt x="4078778" y="0"/>
                  <a:pt x="4112895" y="34117"/>
                  <a:pt x="4112895" y="76203"/>
                </a:cubicBezTo>
                <a:lnTo>
                  <a:pt x="4112895" y="750567"/>
                </a:lnTo>
                <a:cubicBezTo>
                  <a:pt x="4112895" y="792653"/>
                  <a:pt x="4078778" y="826770"/>
                  <a:pt x="4036692" y="826770"/>
                </a:cubicBezTo>
                <a:lnTo>
                  <a:pt x="76203" y="826770"/>
                </a:lnTo>
                <a:cubicBezTo>
                  <a:pt x="34146" y="826770"/>
                  <a:pt x="0" y="792624"/>
                  <a:pt x="0" y="75056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67983" y="404931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41" name="Text 39"/>
          <p:cNvSpPr/>
          <p:nvPr/>
        </p:nvSpPr>
        <p:spPr>
          <a:xfrm>
            <a:off x="7896583" y="4018838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48933" y="4266488"/>
            <a:ext cx="4029075" cy="419100"/>
          </a:xfrm>
          <a:prstGeom prst="rect">
            <a:avLst/>
          </a:prstGeom>
          <a:noFill/>
          <a:ln/>
        </p:spPr>
        <p:txBody>
          <a:bodyPr wrap="square" lIns="2286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 components allow easy scaling as requirements grow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47002" y="5055869"/>
            <a:ext cx="4360545" cy="1417320"/>
          </a:xfrm>
          <a:custGeom>
            <a:avLst/>
            <a:gdLst/>
            <a:ahLst/>
            <a:cxnLst/>
            <a:rect l="l" t="t" r="r" b="b"/>
            <a:pathLst>
              <a:path w="4360545" h="1417320">
                <a:moveTo>
                  <a:pt x="114307" y="0"/>
                </a:moveTo>
                <a:lnTo>
                  <a:pt x="4246238" y="0"/>
                </a:lnTo>
                <a:cubicBezTo>
                  <a:pt x="4309326" y="0"/>
                  <a:pt x="4360545" y="51219"/>
                  <a:pt x="4360545" y="114307"/>
                </a:cubicBezTo>
                <a:lnTo>
                  <a:pt x="4360545" y="1303013"/>
                </a:lnTo>
                <a:cubicBezTo>
                  <a:pt x="4360545" y="1366101"/>
                  <a:pt x="4309326" y="1417320"/>
                  <a:pt x="4246238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65112" y="5173982"/>
            <a:ext cx="421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65112" y="5516882"/>
            <a:ext cx="2019300" cy="381000"/>
          </a:xfrm>
          <a:custGeom>
            <a:avLst/>
            <a:gdLst/>
            <a:ahLst/>
            <a:cxnLst/>
            <a:rect l="l" t="t" r="r" b="b"/>
            <a:pathLst>
              <a:path w="2019300" h="381000">
                <a:moveTo>
                  <a:pt x="76200" y="0"/>
                </a:moveTo>
                <a:lnTo>
                  <a:pt x="1943100" y="0"/>
                </a:lnTo>
                <a:cubicBezTo>
                  <a:pt x="1985156" y="0"/>
                  <a:pt x="2019300" y="34144"/>
                  <a:pt x="2019300" y="76200"/>
                </a:cubicBezTo>
                <a:lnTo>
                  <a:pt x="2019300" y="304800"/>
                </a:lnTo>
                <a:cubicBezTo>
                  <a:pt x="2019300" y="346856"/>
                  <a:pt x="1985156" y="381000"/>
                  <a:pt x="19431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650837" y="563118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47" name="Text 45"/>
          <p:cNvSpPr/>
          <p:nvPr/>
        </p:nvSpPr>
        <p:spPr>
          <a:xfrm>
            <a:off x="7908012" y="5593082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n8n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665137" y="5516882"/>
            <a:ext cx="2019300" cy="381000"/>
          </a:xfrm>
          <a:custGeom>
            <a:avLst/>
            <a:gdLst/>
            <a:ahLst/>
            <a:cxnLst/>
            <a:rect l="l" t="t" r="r" b="b"/>
            <a:pathLst>
              <a:path w="2019300" h="381000">
                <a:moveTo>
                  <a:pt x="76200" y="0"/>
                </a:moveTo>
                <a:lnTo>
                  <a:pt x="1943100" y="0"/>
                </a:lnTo>
                <a:cubicBezTo>
                  <a:pt x="1985156" y="0"/>
                  <a:pt x="2019300" y="34144"/>
                  <a:pt x="2019300" y="76200"/>
                </a:cubicBezTo>
                <a:lnTo>
                  <a:pt x="2019300" y="304800"/>
                </a:lnTo>
                <a:cubicBezTo>
                  <a:pt x="2019300" y="346856"/>
                  <a:pt x="1985156" y="381000"/>
                  <a:pt x="19431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769912" y="563118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0" name="Text 48"/>
          <p:cNvSpPr/>
          <p:nvPr/>
        </p:nvSpPr>
        <p:spPr>
          <a:xfrm>
            <a:off x="10008037" y="5593082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65112" y="5974082"/>
            <a:ext cx="2019300" cy="381000"/>
          </a:xfrm>
          <a:custGeom>
            <a:avLst/>
            <a:gdLst/>
            <a:ahLst/>
            <a:cxnLst/>
            <a:rect l="l" t="t" r="r" b="b"/>
            <a:pathLst>
              <a:path w="2019300" h="381000">
                <a:moveTo>
                  <a:pt x="76200" y="0"/>
                </a:moveTo>
                <a:lnTo>
                  <a:pt x="1943100" y="0"/>
                </a:lnTo>
                <a:cubicBezTo>
                  <a:pt x="1985156" y="0"/>
                  <a:pt x="2019300" y="34144"/>
                  <a:pt x="2019300" y="76200"/>
                </a:cubicBezTo>
                <a:lnTo>
                  <a:pt x="2019300" y="304800"/>
                </a:lnTo>
                <a:cubicBezTo>
                  <a:pt x="2019300" y="346856"/>
                  <a:pt x="1985156" y="381000"/>
                  <a:pt x="19431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41312" y="608838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3" name="Text 51"/>
          <p:cNvSpPr/>
          <p:nvPr/>
        </p:nvSpPr>
        <p:spPr>
          <a:xfrm>
            <a:off x="7908012" y="6050282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APIs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665137" y="5974082"/>
            <a:ext cx="2019300" cy="381000"/>
          </a:xfrm>
          <a:custGeom>
            <a:avLst/>
            <a:gdLst/>
            <a:ahLst/>
            <a:cxnLst/>
            <a:rect l="l" t="t" r="r" b="b"/>
            <a:pathLst>
              <a:path w="2019300" h="381000">
                <a:moveTo>
                  <a:pt x="76200" y="0"/>
                </a:moveTo>
                <a:lnTo>
                  <a:pt x="1943100" y="0"/>
                </a:lnTo>
                <a:cubicBezTo>
                  <a:pt x="1985156" y="0"/>
                  <a:pt x="2019300" y="34144"/>
                  <a:pt x="2019300" y="76200"/>
                </a:cubicBezTo>
                <a:lnTo>
                  <a:pt x="2019300" y="304800"/>
                </a:lnTo>
                <a:cubicBezTo>
                  <a:pt x="2019300" y="346856"/>
                  <a:pt x="1985156" y="381000"/>
                  <a:pt x="19431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760387" y="60883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26194" y="38100"/>
                </a:moveTo>
                <a:lnTo>
                  <a:pt x="126206" y="38100"/>
                </a:lnTo>
                <a:cubicBezTo>
                  <a:pt x="130165" y="38100"/>
                  <a:pt x="133350" y="41285"/>
                  <a:pt x="133350" y="45244"/>
                </a:cubicBezTo>
                <a:cubicBezTo>
                  <a:pt x="133350" y="49203"/>
                  <a:pt x="130165" y="52388"/>
                  <a:pt x="126206" y="52388"/>
                </a:cubicBezTo>
                <a:lnTo>
                  <a:pt x="26194" y="52388"/>
                </a:lnTo>
                <a:cubicBezTo>
                  <a:pt x="22235" y="52388"/>
                  <a:pt x="19050" y="49203"/>
                  <a:pt x="19050" y="45244"/>
                </a:cubicBezTo>
                <a:cubicBezTo>
                  <a:pt x="19050" y="41285"/>
                  <a:pt x="22235" y="38100"/>
                  <a:pt x="26194" y="3810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6" name="Text 54"/>
          <p:cNvSpPr/>
          <p:nvPr/>
        </p:nvSpPr>
        <p:spPr>
          <a:xfrm>
            <a:off x="10008037" y="5897882"/>
            <a:ext cx="197441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code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59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kern="0" spc="48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588818"/>
            <a:ext cx="11655136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64" y="1039091"/>
            <a:ext cx="692727" cy="34636"/>
          </a:xfrm>
          <a:custGeom>
            <a:avLst/>
            <a:gdLst/>
            <a:ahLst/>
            <a:cxnLst/>
            <a:rect l="l" t="t" r="r" b="b"/>
            <a:pathLst>
              <a:path w="692727" h="34636">
                <a:moveTo>
                  <a:pt x="0" y="0"/>
                </a:moveTo>
                <a:lnTo>
                  <a:pt x="692727" y="0"/>
                </a:lnTo>
                <a:lnTo>
                  <a:pt x="692727" y="34636"/>
                </a:lnTo>
                <a:lnTo>
                  <a:pt x="0" y="34636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49827" y="1215736"/>
            <a:ext cx="5652655" cy="5635336"/>
          </a:xfrm>
          <a:custGeom>
            <a:avLst/>
            <a:gdLst/>
            <a:ahLst/>
            <a:cxnLst/>
            <a:rect l="l" t="t" r="r" b="b"/>
            <a:pathLst>
              <a:path w="5652655" h="5635336">
                <a:moveTo>
                  <a:pt x="103916" y="0"/>
                </a:moveTo>
                <a:lnTo>
                  <a:pt x="5548739" y="0"/>
                </a:lnTo>
                <a:cubicBezTo>
                  <a:pt x="5606130" y="0"/>
                  <a:pt x="5652655" y="46525"/>
                  <a:pt x="5652655" y="103916"/>
                </a:cubicBezTo>
                <a:lnTo>
                  <a:pt x="5652655" y="5531421"/>
                </a:lnTo>
                <a:cubicBezTo>
                  <a:pt x="5652655" y="5588812"/>
                  <a:pt x="5606130" y="5635336"/>
                  <a:pt x="5548739" y="5635336"/>
                </a:cubicBezTo>
                <a:lnTo>
                  <a:pt x="103916" y="5635336"/>
                </a:lnTo>
                <a:cubicBezTo>
                  <a:pt x="46525" y="5635336"/>
                  <a:pt x="0" y="5588812"/>
                  <a:pt x="0" y="5531421"/>
                </a:cubicBezTo>
                <a:lnTo>
                  <a:pt x="0" y="103916"/>
                </a:lnTo>
                <a:cubicBezTo>
                  <a:pt x="0" y="46563"/>
                  <a:pt x="46563" y="0"/>
                  <a:pt x="103916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1836" y="1357748"/>
            <a:ext cx="545522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5300" y="1707575"/>
            <a:ext cx="5366905" cy="1496291"/>
          </a:xfrm>
          <a:custGeom>
            <a:avLst/>
            <a:gdLst/>
            <a:ahLst/>
            <a:cxnLst/>
            <a:rect l="l" t="t" r="r" b="b"/>
            <a:pathLst>
              <a:path w="5366905" h="1496291">
                <a:moveTo>
                  <a:pt x="69278" y="0"/>
                </a:moveTo>
                <a:lnTo>
                  <a:pt x="5297626" y="0"/>
                </a:lnTo>
                <a:cubicBezTo>
                  <a:pt x="5335888" y="0"/>
                  <a:pt x="5366905" y="31017"/>
                  <a:pt x="5366905" y="69278"/>
                </a:cubicBezTo>
                <a:lnTo>
                  <a:pt x="5366905" y="1427013"/>
                </a:lnTo>
                <a:cubicBezTo>
                  <a:pt x="5366905" y="1465274"/>
                  <a:pt x="5335888" y="1496291"/>
                  <a:pt x="5297626" y="1496291"/>
                </a:cubicBezTo>
                <a:lnTo>
                  <a:pt x="69278" y="1496291"/>
                </a:lnTo>
                <a:cubicBezTo>
                  <a:pt x="31017" y="1496291"/>
                  <a:pt x="0" y="1465274"/>
                  <a:pt x="0" y="1427013"/>
                </a:cubicBezTo>
                <a:lnTo>
                  <a:pt x="0" y="69278"/>
                </a:lnTo>
                <a:cubicBezTo>
                  <a:pt x="0" y="31017"/>
                  <a:pt x="31017" y="0"/>
                  <a:pt x="69278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2673" y="1814946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69273" y="0"/>
                </a:moveTo>
                <a:lnTo>
                  <a:pt x="207818" y="0"/>
                </a:lnTo>
                <a:cubicBezTo>
                  <a:pt x="246051" y="0"/>
                  <a:pt x="277091" y="31040"/>
                  <a:pt x="277091" y="69273"/>
                </a:cubicBezTo>
                <a:lnTo>
                  <a:pt x="277091" y="207818"/>
                </a:lnTo>
                <a:cubicBezTo>
                  <a:pt x="277091" y="246051"/>
                  <a:pt x="246051" y="277091"/>
                  <a:pt x="207818" y="277091"/>
                </a:cubicBezTo>
                <a:lnTo>
                  <a:pt x="69273" y="277091"/>
                </a:lnTo>
                <a:cubicBezTo>
                  <a:pt x="31040" y="277091"/>
                  <a:pt x="0" y="246051"/>
                  <a:pt x="0" y="207818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0346" y="1892878"/>
            <a:ext cx="106074" cy="121227"/>
          </a:xfrm>
          <a:custGeom>
            <a:avLst/>
            <a:gdLst/>
            <a:ahLst/>
            <a:cxnLst/>
            <a:rect l="l" t="t" r="r" b="b"/>
            <a:pathLst>
              <a:path w="106074" h="121227">
                <a:moveTo>
                  <a:pt x="87464" y="30307"/>
                </a:moveTo>
                <a:lnTo>
                  <a:pt x="79342" y="18942"/>
                </a:lnTo>
                <a:lnTo>
                  <a:pt x="26755" y="18942"/>
                </a:lnTo>
                <a:lnTo>
                  <a:pt x="18634" y="30307"/>
                </a:lnTo>
                <a:lnTo>
                  <a:pt x="87464" y="30307"/>
                </a:lnTo>
                <a:close/>
                <a:moveTo>
                  <a:pt x="0" y="35161"/>
                </a:moveTo>
                <a:cubicBezTo>
                  <a:pt x="0" y="32012"/>
                  <a:pt x="994" y="28934"/>
                  <a:pt x="2818" y="26353"/>
                </a:cubicBezTo>
                <a:lnTo>
                  <a:pt x="14419" y="10134"/>
                </a:lnTo>
                <a:cubicBezTo>
                  <a:pt x="17261" y="6156"/>
                  <a:pt x="21854" y="3788"/>
                  <a:pt x="26732" y="3788"/>
                </a:cubicBezTo>
                <a:lnTo>
                  <a:pt x="79319" y="3788"/>
                </a:lnTo>
                <a:cubicBezTo>
                  <a:pt x="84220" y="3788"/>
                  <a:pt x="88813" y="6156"/>
                  <a:pt x="91654" y="10134"/>
                </a:cubicBezTo>
                <a:lnTo>
                  <a:pt x="103233" y="26353"/>
                </a:lnTo>
                <a:cubicBezTo>
                  <a:pt x="105079" y="28934"/>
                  <a:pt x="106050" y="32012"/>
                  <a:pt x="106050" y="35161"/>
                </a:cubicBezTo>
                <a:lnTo>
                  <a:pt x="106074" y="98497"/>
                </a:lnTo>
                <a:cubicBezTo>
                  <a:pt x="106074" y="106855"/>
                  <a:pt x="99279" y="113651"/>
                  <a:pt x="90920" y="113651"/>
                </a:cubicBezTo>
                <a:lnTo>
                  <a:pt x="15153" y="113651"/>
                </a:lnTo>
                <a:cubicBezTo>
                  <a:pt x="6795" y="113651"/>
                  <a:pt x="0" y="106855"/>
                  <a:pt x="0" y="98497"/>
                </a:cubicBezTo>
                <a:lnTo>
                  <a:pt x="0" y="35161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0" name="Text 8"/>
          <p:cNvSpPr/>
          <p:nvPr/>
        </p:nvSpPr>
        <p:spPr>
          <a:xfrm>
            <a:off x="949036" y="1832264"/>
            <a:ext cx="701386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2673" y="2161310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product_id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12523" y="2161310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product_name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2673" y="2403764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12523" y="2403764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current_stock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2673" y="2646219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avg_daily_sales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12523" y="2646219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reorder_threshold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2673" y="2888674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days_to_stockout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12523" y="2888674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estimated_stockout_date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5300" y="3280063"/>
            <a:ext cx="5366905" cy="1011382"/>
          </a:xfrm>
          <a:custGeom>
            <a:avLst/>
            <a:gdLst/>
            <a:ahLst/>
            <a:cxnLst/>
            <a:rect l="l" t="t" r="r" b="b"/>
            <a:pathLst>
              <a:path w="5366905" h="1011382">
                <a:moveTo>
                  <a:pt x="69270" y="0"/>
                </a:moveTo>
                <a:lnTo>
                  <a:pt x="5297635" y="0"/>
                </a:lnTo>
                <a:cubicBezTo>
                  <a:pt x="5335892" y="0"/>
                  <a:pt x="5366905" y="31013"/>
                  <a:pt x="5366905" y="69270"/>
                </a:cubicBezTo>
                <a:lnTo>
                  <a:pt x="5366905" y="942112"/>
                </a:lnTo>
                <a:cubicBezTo>
                  <a:pt x="5366905" y="980369"/>
                  <a:pt x="5335892" y="1011382"/>
                  <a:pt x="5297635" y="1011382"/>
                </a:cubicBezTo>
                <a:lnTo>
                  <a:pt x="69270" y="1011382"/>
                </a:lnTo>
                <a:cubicBezTo>
                  <a:pt x="31039" y="1011382"/>
                  <a:pt x="0" y="980343"/>
                  <a:pt x="0" y="942112"/>
                </a:cubicBezTo>
                <a:lnTo>
                  <a:pt x="0" y="69270"/>
                </a:lnTo>
                <a:cubicBezTo>
                  <a:pt x="0" y="31039"/>
                  <a:pt x="31039" y="0"/>
                  <a:pt x="69270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 w="10160">
            <a:solidFill>
              <a:srgbClr val="5E7C8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2673" y="3387438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69273" y="0"/>
                </a:moveTo>
                <a:lnTo>
                  <a:pt x="207818" y="0"/>
                </a:lnTo>
                <a:cubicBezTo>
                  <a:pt x="246051" y="0"/>
                  <a:pt x="277091" y="31040"/>
                  <a:pt x="277091" y="69273"/>
                </a:cubicBezTo>
                <a:lnTo>
                  <a:pt x="277091" y="207818"/>
                </a:lnTo>
                <a:cubicBezTo>
                  <a:pt x="277091" y="246051"/>
                  <a:pt x="246051" y="277091"/>
                  <a:pt x="207818" y="277091"/>
                </a:cubicBezTo>
                <a:lnTo>
                  <a:pt x="69273" y="277091"/>
                </a:lnTo>
                <a:cubicBezTo>
                  <a:pt x="31040" y="277091"/>
                  <a:pt x="0" y="246051"/>
                  <a:pt x="0" y="207818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0346" y="3465370"/>
            <a:ext cx="106074" cy="121227"/>
          </a:xfrm>
          <a:custGeom>
            <a:avLst/>
            <a:gdLst/>
            <a:ahLst/>
            <a:cxnLst/>
            <a:rect l="l" t="t" r="r" b="b"/>
            <a:pathLst>
              <a:path w="106074" h="121227">
                <a:moveTo>
                  <a:pt x="53037" y="0"/>
                </a:moveTo>
                <a:cubicBezTo>
                  <a:pt x="48846" y="0"/>
                  <a:pt x="45460" y="3386"/>
                  <a:pt x="45460" y="7577"/>
                </a:cubicBezTo>
                <a:lnTo>
                  <a:pt x="45460" y="8334"/>
                </a:lnTo>
                <a:cubicBezTo>
                  <a:pt x="28176" y="11839"/>
                  <a:pt x="15153" y="27134"/>
                  <a:pt x="15153" y="45460"/>
                </a:cubicBezTo>
                <a:lnTo>
                  <a:pt x="15153" y="50598"/>
                </a:lnTo>
                <a:cubicBezTo>
                  <a:pt x="15153" y="61987"/>
                  <a:pt x="11270" y="73044"/>
                  <a:pt x="4167" y="81947"/>
                </a:cubicBezTo>
                <a:lnTo>
                  <a:pt x="1847" y="84835"/>
                </a:lnTo>
                <a:cubicBezTo>
                  <a:pt x="639" y="86327"/>
                  <a:pt x="0" y="88174"/>
                  <a:pt x="0" y="90092"/>
                </a:cubicBezTo>
                <a:cubicBezTo>
                  <a:pt x="0" y="94732"/>
                  <a:pt x="3765" y="98497"/>
                  <a:pt x="8405" y="98497"/>
                </a:cubicBezTo>
                <a:lnTo>
                  <a:pt x="97645" y="98497"/>
                </a:lnTo>
                <a:cubicBezTo>
                  <a:pt x="102286" y="98497"/>
                  <a:pt x="106050" y="94732"/>
                  <a:pt x="106050" y="90092"/>
                </a:cubicBezTo>
                <a:cubicBezTo>
                  <a:pt x="106050" y="88174"/>
                  <a:pt x="105411" y="86327"/>
                  <a:pt x="104203" y="84835"/>
                </a:cubicBezTo>
                <a:lnTo>
                  <a:pt x="101883" y="81947"/>
                </a:lnTo>
                <a:cubicBezTo>
                  <a:pt x="94804" y="73044"/>
                  <a:pt x="90920" y="61987"/>
                  <a:pt x="90920" y="50598"/>
                </a:cubicBezTo>
                <a:lnTo>
                  <a:pt x="90920" y="45460"/>
                </a:lnTo>
                <a:cubicBezTo>
                  <a:pt x="90920" y="27134"/>
                  <a:pt x="77898" y="11839"/>
                  <a:pt x="60614" y="8334"/>
                </a:cubicBezTo>
                <a:lnTo>
                  <a:pt x="60614" y="7577"/>
                </a:lnTo>
                <a:cubicBezTo>
                  <a:pt x="60614" y="3386"/>
                  <a:pt x="57228" y="0"/>
                  <a:pt x="53037" y="0"/>
                </a:cubicBezTo>
                <a:close/>
                <a:moveTo>
                  <a:pt x="38357" y="109862"/>
                </a:moveTo>
                <a:cubicBezTo>
                  <a:pt x="40038" y="116397"/>
                  <a:pt x="45981" y="121227"/>
                  <a:pt x="53037" y="121227"/>
                </a:cubicBezTo>
                <a:cubicBezTo>
                  <a:pt x="60093" y="121227"/>
                  <a:pt x="66036" y="116397"/>
                  <a:pt x="67717" y="109862"/>
                </a:cubicBezTo>
                <a:lnTo>
                  <a:pt x="38357" y="109862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2" name="Text 20"/>
          <p:cNvSpPr/>
          <p:nvPr/>
        </p:nvSpPr>
        <p:spPr>
          <a:xfrm>
            <a:off x="949036" y="3404756"/>
            <a:ext cx="90920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Alerts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2673" y="3733802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product_id (FK)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12523" y="3733802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alert_name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2673" y="3976256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alert_status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12523" y="3976256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alert_date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5300" y="4367645"/>
            <a:ext cx="5366905" cy="1011382"/>
          </a:xfrm>
          <a:custGeom>
            <a:avLst/>
            <a:gdLst/>
            <a:ahLst/>
            <a:cxnLst/>
            <a:rect l="l" t="t" r="r" b="b"/>
            <a:pathLst>
              <a:path w="5366905" h="1011382">
                <a:moveTo>
                  <a:pt x="69270" y="0"/>
                </a:moveTo>
                <a:lnTo>
                  <a:pt x="5297635" y="0"/>
                </a:lnTo>
                <a:cubicBezTo>
                  <a:pt x="5335892" y="0"/>
                  <a:pt x="5366905" y="31013"/>
                  <a:pt x="5366905" y="69270"/>
                </a:cubicBezTo>
                <a:lnTo>
                  <a:pt x="5366905" y="942112"/>
                </a:lnTo>
                <a:cubicBezTo>
                  <a:pt x="5366905" y="980369"/>
                  <a:pt x="5335892" y="1011382"/>
                  <a:pt x="5297635" y="1011382"/>
                </a:cubicBezTo>
                <a:lnTo>
                  <a:pt x="69270" y="1011382"/>
                </a:lnTo>
                <a:cubicBezTo>
                  <a:pt x="31039" y="1011382"/>
                  <a:pt x="0" y="980343"/>
                  <a:pt x="0" y="942112"/>
                </a:cubicBezTo>
                <a:lnTo>
                  <a:pt x="0" y="69270"/>
                </a:lnTo>
                <a:cubicBezTo>
                  <a:pt x="0" y="31039"/>
                  <a:pt x="31039" y="0"/>
                  <a:pt x="69270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673" y="4475021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69273" y="0"/>
                </a:moveTo>
                <a:lnTo>
                  <a:pt x="207818" y="0"/>
                </a:lnTo>
                <a:cubicBezTo>
                  <a:pt x="246051" y="0"/>
                  <a:pt x="277091" y="31040"/>
                  <a:pt x="277091" y="69273"/>
                </a:cubicBezTo>
                <a:lnTo>
                  <a:pt x="277091" y="207818"/>
                </a:lnTo>
                <a:cubicBezTo>
                  <a:pt x="277091" y="246051"/>
                  <a:pt x="246051" y="277091"/>
                  <a:pt x="207818" y="277091"/>
                </a:cubicBezTo>
                <a:lnTo>
                  <a:pt x="69273" y="277091"/>
                </a:lnTo>
                <a:cubicBezTo>
                  <a:pt x="31040" y="277091"/>
                  <a:pt x="0" y="246051"/>
                  <a:pt x="0" y="207818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7616" y="4552953"/>
            <a:ext cx="151534" cy="121227"/>
          </a:xfrm>
          <a:custGeom>
            <a:avLst/>
            <a:gdLst/>
            <a:ahLst/>
            <a:cxnLst/>
            <a:rect l="l" t="t" r="r" b="b"/>
            <a:pathLst>
              <a:path w="151534" h="121227">
                <a:moveTo>
                  <a:pt x="5683" y="-3788"/>
                </a:moveTo>
                <a:cubicBezTo>
                  <a:pt x="2533" y="-3788"/>
                  <a:pt x="0" y="-1255"/>
                  <a:pt x="0" y="1894"/>
                </a:cubicBezTo>
                <a:cubicBezTo>
                  <a:pt x="0" y="5043"/>
                  <a:pt x="2533" y="7577"/>
                  <a:pt x="5683" y="7577"/>
                </a:cubicBezTo>
                <a:lnTo>
                  <a:pt x="16408" y="7577"/>
                </a:lnTo>
                <a:cubicBezTo>
                  <a:pt x="17332" y="7577"/>
                  <a:pt x="18113" y="8240"/>
                  <a:pt x="18279" y="9139"/>
                </a:cubicBezTo>
                <a:lnTo>
                  <a:pt x="30615" y="76927"/>
                </a:lnTo>
                <a:cubicBezTo>
                  <a:pt x="32083" y="85025"/>
                  <a:pt x="39138" y="90920"/>
                  <a:pt x="47378" y="90920"/>
                </a:cubicBezTo>
                <a:lnTo>
                  <a:pt x="107968" y="90920"/>
                </a:lnTo>
                <a:cubicBezTo>
                  <a:pt x="111117" y="90920"/>
                  <a:pt x="113651" y="88387"/>
                  <a:pt x="113651" y="85238"/>
                </a:cubicBezTo>
                <a:cubicBezTo>
                  <a:pt x="113651" y="82089"/>
                  <a:pt x="111117" y="79555"/>
                  <a:pt x="107968" y="79555"/>
                </a:cubicBezTo>
                <a:lnTo>
                  <a:pt x="47378" y="79555"/>
                </a:lnTo>
                <a:cubicBezTo>
                  <a:pt x="44632" y="79555"/>
                  <a:pt x="42287" y="77590"/>
                  <a:pt x="41790" y="74891"/>
                </a:cubicBezTo>
                <a:lnTo>
                  <a:pt x="40583" y="68190"/>
                </a:lnTo>
                <a:lnTo>
                  <a:pt x="112467" y="68190"/>
                </a:lnTo>
                <a:cubicBezTo>
                  <a:pt x="119759" y="68190"/>
                  <a:pt x="126010" y="63005"/>
                  <a:pt x="127360" y="55831"/>
                </a:cubicBezTo>
                <a:lnTo>
                  <a:pt x="134700" y="16550"/>
                </a:lnTo>
                <a:cubicBezTo>
                  <a:pt x="135576" y="11886"/>
                  <a:pt x="132000" y="7577"/>
                  <a:pt x="127241" y="7577"/>
                </a:cubicBezTo>
                <a:lnTo>
                  <a:pt x="29525" y="7577"/>
                </a:lnTo>
                <a:lnTo>
                  <a:pt x="29431" y="7103"/>
                </a:lnTo>
                <a:cubicBezTo>
                  <a:pt x="28294" y="805"/>
                  <a:pt x="22801" y="-3788"/>
                  <a:pt x="16385" y="-3788"/>
                </a:cubicBezTo>
                <a:lnTo>
                  <a:pt x="5683" y="-3788"/>
                </a:lnTo>
                <a:close/>
                <a:moveTo>
                  <a:pt x="49249" y="121227"/>
                </a:moveTo>
                <a:cubicBezTo>
                  <a:pt x="55521" y="121227"/>
                  <a:pt x="60614" y="116135"/>
                  <a:pt x="60614" y="109862"/>
                </a:cubicBezTo>
                <a:cubicBezTo>
                  <a:pt x="60614" y="103590"/>
                  <a:pt x="55521" y="98497"/>
                  <a:pt x="49249" y="98497"/>
                </a:cubicBezTo>
                <a:cubicBezTo>
                  <a:pt x="42976" y="98497"/>
                  <a:pt x="37884" y="103590"/>
                  <a:pt x="37884" y="109862"/>
                </a:cubicBezTo>
                <a:cubicBezTo>
                  <a:pt x="37884" y="116135"/>
                  <a:pt x="42976" y="121227"/>
                  <a:pt x="49249" y="121227"/>
                </a:cubicBezTo>
                <a:close/>
                <a:moveTo>
                  <a:pt x="102286" y="121227"/>
                </a:moveTo>
                <a:cubicBezTo>
                  <a:pt x="108558" y="121227"/>
                  <a:pt x="113651" y="116135"/>
                  <a:pt x="113651" y="109862"/>
                </a:cubicBezTo>
                <a:cubicBezTo>
                  <a:pt x="113651" y="103590"/>
                  <a:pt x="108558" y="98497"/>
                  <a:pt x="102286" y="98497"/>
                </a:cubicBezTo>
                <a:cubicBezTo>
                  <a:pt x="96013" y="98497"/>
                  <a:pt x="90920" y="103590"/>
                  <a:pt x="90920" y="109862"/>
                </a:cubicBezTo>
                <a:cubicBezTo>
                  <a:pt x="90920" y="116135"/>
                  <a:pt x="96013" y="121227"/>
                  <a:pt x="102286" y="121227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0" name="Text 28"/>
          <p:cNvSpPr/>
          <p:nvPr/>
        </p:nvSpPr>
        <p:spPr>
          <a:xfrm>
            <a:off x="949036" y="4492339"/>
            <a:ext cx="1515341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Reorder Suggestions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2673" y="4821384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product_id (FK)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12523" y="4821384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supplier_id (FK)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2673" y="5063839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suggested_quantity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12523" y="5063839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5300" y="5455228"/>
            <a:ext cx="5366905" cy="1253836"/>
          </a:xfrm>
          <a:custGeom>
            <a:avLst/>
            <a:gdLst/>
            <a:ahLst/>
            <a:cxnLst/>
            <a:rect l="l" t="t" r="r" b="b"/>
            <a:pathLst>
              <a:path w="5366905" h="1253836">
                <a:moveTo>
                  <a:pt x="69274" y="0"/>
                </a:moveTo>
                <a:lnTo>
                  <a:pt x="5297630" y="0"/>
                </a:lnTo>
                <a:cubicBezTo>
                  <a:pt x="5335889" y="0"/>
                  <a:pt x="5366905" y="31015"/>
                  <a:pt x="5366905" y="69274"/>
                </a:cubicBezTo>
                <a:lnTo>
                  <a:pt x="5366905" y="1184562"/>
                </a:lnTo>
                <a:cubicBezTo>
                  <a:pt x="5366905" y="1222821"/>
                  <a:pt x="5335889" y="1253836"/>
                  <a:pt x="5297630" y="1253836"/>
                </a:cubicBezTo>
                <a:lnTo>
                  <a:pt x="69274" y="1253836"/>
                </a:lnTo>
                <a:cubicBezTo>
                  <a:pt x="31015" y="1253836"/>
                  <a:pt x="0" y="1222821"/>
                  <a:pt x="0" y="1184562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2673" y="5562599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69273" y="0"/>
                </a:moveTo>
                <a:lnTo>
                  <a:pt x="207818" y="0"/>
                </a:lnTo>
                <a:cubicBezTo>
                  <a:pt x="246051" y="0"/>
                  <a:pt x="277091" y="31040"/>
                  <a:pt x="277091" y="69273"/>
                </a:cubicBezTo>
                <a:lnTo>
                  <a:pt x="277091" y="207818"/>
                </a:lnTo>
                <a:cubicBezTo>
                  <a:pt x="277091" y="246051"/>
                  <a:pt x="246051" y="277091"/>
                  <a:pt x="207818" y="277091"/>
                </a:cubicBezTo>
                <a:lnTo>
                  <a:pt x="69273" y="277091"/>
                </a:lnTo>
                <a:cubicBezTo>
                  <a:pt x="31040" y="277091"/>
                  <a:pt x="0" y="246051"/>
                  <a:pt x="0" y="207818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75193" y="5640531"/>
            <a:ext cx="136381" cy="121227"/>
          </a:xfrm>
          <a:custGeom>
            <a:avLst/>
            <a:gdLst/>
            <a:ahLst/>
            <a:cxnLst/>
            <a:rect l="l" t="t" r="r" b="b"/>
            <a:pathLst>
              <a:path w="136381" h="121227">
                <a:moveTo>
                  <a:pt x="0" y="22730"/>
                </a:moveTo>
                <a:cubicBezTo>
                  <a:pt x="0" y="14372"/>
                  <a:pt x="6795" y="7577"/>
                  <a:pt x="15153" y="7577"/>
                </a:cubicBezTo>
                <a:lnTo>
                  <a:pt x="83344" y="7577"/>
                </a:lnTo>
                <a:cubicBezTo>
                  <a:pt x="91702" y="7577"/>
                  <a:pt x="98497" y="14372"/>
                  <a:pt x="98497" y="22730"/>
                </a:cubicBezTo>
                <a:lnTo>
                  <a:pt x="98497" y="30307"/>
                </a:lnTo>
                <a:lnTo>
                  <a:pt x="110502" y="30307"/>
                </a:lnTo>
                <a:cubicBezTo>
                  <a:pt x="114527" y="30307"/>
                  <a:pt x="118386" y="31893"/>
                  <a:pt x="121227" y="34734"/>
                </a:cubicBezTo>
                <a:lnTo>
                  <a:pt x="131953" y="45460"/>
                </a:lnTo>
                <a:cubicBezTo>
                  <a:pt x="134794" y="48301"/>
                  <a:pt x="136381" y="52161"/>
                  <a:pt x="136381" y="56186"/>
                </a:cubicBezTo>
                <a:lnTo>
                  <a:pt x="136381" y="90920"/>
                </a:lnTo>
                <a:cubicBezTo>
                  <a:pt x="136381" y="99279"/>
                  <a:pt x="129585" y="106074"/>
                  <a:pt x="121227" y="106074"/>
                </a:cubicBezTo>
                <a:lnTo>
                  <a:pt x="120446" y="106074"/>
                </a:lnTo>
                <a:cubicBezTo>
                  <a:pt x="117983" y="114811"/>
                  <a:pt x="109933" y="121227"/>
                  <a:pt x="100391" y="121227"/>
                </a:cubicBezTo>
                <a:cubicBezTo>
                  <a:pt x="90849" y="121227"/>
                  <a:pt x="82823" y="114811"/>
                  <a:pt x="80337" y="106074"/>
                </a:cubicBezTo>
                <a:lnTo>
                  <a:pt x="56044" y="106074"/>
                </a:lnTo>
                <a:cubicBezTo>
                  <a:pt x="53582" y="114811"/>
                  <a:pt x="45531" y="121227"/>
                  <a:pt x="35989" y="121227"/>
                </a:cubicBezTo>
                <a:cubicBezTo>
                  <a:pt x="26447" y="121227"/>
                  <a:pt x="18421" y="114811"/>
                  <a:pt x="15935" y="106074"/>
                </a:cubicBezTo>
                <a:lnTo>
                  <a:pt x="15153" y="106074"/>
                </a:lnTo>
                <a:cubicBezTo>
                  <a:pt x="6795" y="106074"/>
                  <a:pt x="0" y="99279"/>
                  <a:pt x="0" y="90920"/>
                </a:cubicBezTo>
                <a:lnTo>
                  <a:pt x="0" y="22730"/>
                </a:lnTo>
                <a:close/>
                <a:moveTo>
                  <a:pt x="121227" y="68190"/>
                </a:moveTo>
                <a:lnTo>
                  <a:pt x="121227" y="56186"/>
                </a:lnTo>
                <a:lnTo>
                  <a:pt x="110502" y="45460"/>
                </a:lnTo>
                <a:lnTo>
                  <a:pt x="98497" y="45460"/>
                </a:lnTo>
                <a:lnTo>
                  <a:pt x="98497" y="68190"/>
                </a:lnTo>
                <a:lnTo>
                  <a:pt x="121227" y="68190"/>
                </a:lnTo>
                <a:close/>
                <a:moveTo>
                  <a:pt x="45460" y="100391"/>
                </a:moveTo>
                <a:cubicBezTo>
                  <a:pt x="45460" y="95164"/>
                  <a:pt x="41216" y="90920"/>
                  <a:pt x="35989" y="90920"/>
                </a:cubicBezTo>
                <a:cubicBezTo>
                  <a:pt x="30762" y="90920"/>
                  <a:pt x="26518" y="95164"/>
                  <a:pt x="26518" y="100391"/>
                </a:cubicBezTo>
                <a:cubicBezTo>
                  <a:pt x="26518" y="105618"/>
                  <a:pt x="30762" y="109862"/>
                  <a:pt x="35989" y="109862"/>
                </a:cubicBezTo>
                <a:cubicBezTo>
                  <a:pt x="41216" y="109862"/>
                  <a:pt x="45460" y="105618"/>
                  <a:pt x="45460" y="100391"/>
                </a:cubicBezTo>
                <a:close/>
                <a:moveTo>
                  <a:pt x="100391" y="109862"/>
                </a:moveTo>
                <a:cubicBezTo>
                  <a:pt x="105618" y="109862"/>
                  <a:pt x="109862" y="105618"/>
                  <a:pt x="109862" y="100391"/>
                </a:cubicBezTo>
                <a:cubicBezTo>
                  <a:pt x="109862" y="95164"/>
                  <a:pt x="105618" y="90920"/>
                  <a:pt x="100391" y="90920"/>
                </a:cubicBezTo>
                <a:cubicBezTo>
                  <a:pt x="95164" y="90920"/>
                  <a:pt x="90920" y="95164"/>
                  <a:pt x="90920" y="100391"/>
                </a:cubicBezTo>
                <a:cubicBezTo>
                  <a:pt x="90920" y="105618"/>
                  <a:pt x="95164" y="109862"/>
                  <a:pt x="100391" y="109862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8" name="Text 36"/>
          <p:cNvSpPr/>
          <p:nvPr/>
        </p:nvSpPr>
        <p:spPr>
          <a:xfrm>
            <a:off x="949036" y="5579917"/>
            <a:ext cx="727364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2673" y="5908963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supplier_id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212523" y="5908963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supplier_name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2673" y="6151417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delivery_time_days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12523" y="6151417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reliability_score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02673" y="6393872"/>
            <a:ext cx="260638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price_score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86055" y="1215737"/>
            <a:ext cx="5652655" cy="2968338"/>
          </a:xfrm>
          <a:custGeom>
            <a:avLst/>
            <a:gdLst/>
            <a:ahLst/>
            <a:cxnLst/>
            <a:rect l="l" t="t" r="r" b="b"/>
            <a:pathLst>
              <a:path w="5652655" h="4483677">
                <a:moveTo>
                  <a:pt x="103887" y="0"/>
                </a:moveTo>
                <a:lnTo>
                  <a:pt x="5548768" y="0"/>
                </a:lnTo>
                <a:cubicBezTo>
                  <a:pt x="5606143" y="0"/>
                  <a:pt x="5652655" y="46512"/>
                  <a:pt x="5652655" y="103887"/>
                </a:cubicBezTo>
                <a:lnTo>
                  <a:pt x="5652655" y="4379790"/>
                </a:lnTo>
                <a:cubicBezTo>
                  <a:pt x="5652655" y="4437166"/>
                  <a:pt x="5606143" y="4483677"/>
                  <a:pt x="5548768" y="4483677"/>
                </a:cubicBezTo>
                <a:lnTo>
                  <a:pt x="103887" y="4483677"/>
                </a:lnTo>
                <a:cubicBezTo>
                  <a:pt x="46512" y="4483677"/>
                  <a:pt x="0" y="4437166"/>
                  <a:pt x="0" y="4379790"/>
                </a:cubicBezTo>
                <a:lnTo>
                  <a:pt x="0" y="103887"/>
                </a:lnTo>
                <a:cubicBezTo>
                  <a:pt x="0" y="46550"/>
                  <a:pt x="46550" y="0"/>
                  <a:pt x="103887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2700" y="1392384"/>
            <a:ext cx="538595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2700" y="1773384"/>
            <a:ext cx="5299364" cy="658091"/>
          </a:xfrm>
          <a:custGeom>
            <a:avLst/>
            <a:gdLst/>
            <a:ahLst/>
            <a:cxnLst/>
            <a:rect l="l" t="t" r="r" b="b"/>
            <a:pathLst>
              <a:path w="5299364" h="658091">
                <a:moveTo>
                  <a:pt x="69271" y="0"/>
                </a:moveTo>
                <a:lnTo>
                  <a:pt x="5230093" y="0"/>
                </a:lnTo>
                <a:cubicBezTo>
                  <a:pt x="5268350" y="0"/>
                  <a:pt x="5299364" y="31014"/>
                  <a:pt x="5299364" y="69271"/>
                </a:cubicBezTo>
                <a:lnTo>
                  <a:pt x="5299364" y="588820"/>
                </a:lnTo>
                <a:cubicBezTo>
                  <a:pt x="5299364" y="627077"/>
                  <a:pt x="5268350" y="658091"/>
                  <a:pt x="5230093" y="658091"/>
                </a:cubicBezTo>
                <a:lnTo>
                  <a:pt x="69271" y="658091"/>
                </a:lnTo>
                <a:cubicBezTo>
                  <a:pt x="31014" y="658091"/>
                  <a:pt x="0" y="627077"/>
                  <a:pt x="0" y="588820"/>
                </a:cubicBezTo>
                <a:lnTo>
                  <a:pt x="0" y="69271"/>
                </a:lnTo>
                <a:cubicBezTo>
                  <a:pt x="0" y="31039"/>
                  <a:pt x="31039" y="0"/>
                  <a:pt x="69271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66609" y="1911930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69273" y="0"/>
                </a:moveTo>
                <a:lnTo>
                  <a:pt x="207818" y="0"/>
                </a:lnTo>
                <a:cubicBezTo>
                  <a:pt x="246051" y="0"/>
                  <a:pt x="277091" y="31040"/>
                  <a:pt x="277091" y="69273"/>
                </a:cubicBezTo>
                <a:lnTo>
                  <a:pt x="277091" y="207818"/>
                </a:lnTo>
                <a:cubicBezTo>
                  <a:pt x="277091" y="246051"/>
                  <a:pt x="246051" y="277091"/>
                  <a:pt x="207818" y="277091"/>
                </a:cubicBezTo>
                <a:lnTo>
                  <a:pt x="69273" y="277091"/>
                </a:lnTo>
                <a:cubicBezTo>
                  <a:pt x="31040" y="277091"/>
                  <a:pt x="0" y="246051"/>
                  <a:pt x="0" y="207818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39129" y="1989862"/>
            <a:ext cx="136381" cy="121227"/>
          </a:xfrm>
          <a:custGeom>
            <a:avLst/>
            <a:gdLst/>
            <a:ahLst/>
            <a:cxnLst/>
            <a:rect l="l" t="t" r="r" b="b"/>
            <a:pathLst>
              <a:path w="136381" h="121227">
                <a:moveTo>
                  <a:pt x="99326" y="22730"/>
                </a:moveTo>
                <a:cubicBezTo>
                  <a:pt x="95395" y="22730"/>
                  <a:pt x="91583" y="23796"/>
                  <a:pt x="88245" y="25737"/>
                </a:cubicBezTo>
                <a:cubicBezTo>
                  <a:pt x="84504" y="21949"/>
                  <a:pt x="80147" y="18776"/>
                  <a:pt x="75341" y="16385"/>
                </a:cubicBezTo>
                <a:cubicBezTo>
                  <a:pt x="82018" y="10702"/>
                  <a:pt x="90518" y="7577"/>
                  <a:pt x="99326" y="7577"/>
                </a:cubicBezTo>
                <a:cubicBezTo>
                  <a:pt x="119783" y="7577"/>
                  <a:pt x="136381" y="24151"/>
                  <a:pt x="136381" y="44632"/>
                </a:cubicBezTo>
                <a:cubicBezTo>
                  <a:pt x="136381" y="54458"/>
                  <a:pt x="132474" y="63881"/>
                  <a:pt x="125537" y="70819"/>
                </a:cubicBezTo>
                <a:lnTo>
                  <a:pt x="108702" y="87653"/>
                </a:lnTo>
                <a:cubicBezTo>
                  <a:pt x="101765" y="94590"/>
                  <a:pt x="92341" y="98497"/>
                  <a:pt x="82515" y="98497"/>
                </a:cubicBezTo>
                <a:cubicBezTo>
                  <a:pt x="62058" y="98497"/>
                  <a:pt x="45460" y="81923"/>
                  <a:pt x="45460" y="61442"/>
                </a:cubicBezTo>
                <a:cubicBezTo>
                  <a:pt x="45460" y="61087"/>
                  <a:pt x="45460" y="60732"/>
                  <a:pt x="45484" y="60377"/>
                </a:cubicBezTo>
                <a:cubicBezTo>
                  <a:pt x="45602" y="56186"/>
                  <a:pt x="49083" y="52895"/>
                  <a:pt x="53274" y="53013"/>
                </a:cubicBezTo>
                <a:cubicBezTo>
                  <a:pt x="57465" y="53132"/>
                  <a:pt x="60756" y="56612"/>
                  <a:pt x="60637" y="60803"/>
                </a:cubicBezTo>
                <a:cubicBezTo>
                  <a:pt x="60637" y="61016"/>
                  <a:pt x="60637" y="61229"/>
                  <a:pt x="60637" y="61419"/>
                </a:cubicBezTo>
                <a:cubicBezTo>
                  <a:pt x="60637" y="73518"/>
                  <a:pt x="70440" y="83320"/>
                  <a:pt x="82539" y="83320"/>
                </a:cubicBezTo>
                <a:cubicBezTo>
                  <a:pt x="88340" y="83320"/>
                  <a:pt x="93904" y="81023"/>
                  <a:pt x="98024" y="76904"/>
                </a:cubicBezTo>
                <a:lnTo>
                  <a:pt x="114858" y="60069"/>
                </a:lnTo>
                <a:cubicBezTo>
                  <a:pt x="118954" y="55973"/>
                  <a:pt x="121275" y="50385"/>
                  <a:pt x="121275" y="44584"/>
                </a:cubicBezTo>
                <a:cubicBezTo>
                  <a:pt x="121275" y="32485"/>
                  <a:pt x="111472" y="22683"/>
                  <a:pt x="99373" y="22683"/>
                </a:cubicBezTo>
                <a:close/>
                <a:moveTo>
                  <a:pt x="65160" y="41033"/>
                </a:moveTo>
                <a:cubicBezTo>
                  <a:pt x="64710" y="40843"/>
                  <a:pt x="64260" y="40583"/>
                  <a:pt x="63857" y="40299"/>
                </a:cubicBezTo>
                <a:cubicBezTo>
                  <a:pt x="60874" y="38760"/>
                  <a:pt x="57465" y="37884"/>
                  <a:pt x="53889" y="37884"/>
                </a:cubicBezTo>
                <a:cubicBezTo>
                  <a:pt x="48088" y="37884"/>
                  <a:pt x="42524" y="40180"/>
                  <a:pt x="38404" y="44300"/>
                </a:cubicBezTo>
                <a:lnTo>
                  <a:pt x="21570" y="61135"/>
                </a:lnTo>
                <a:cubicBezTo>
                  <a:pt x="17474" y="65231"/>
                  <a:pt x="15153" y="70819"/>
                  <a:pt x="15153" y="76619"/>
                </a:cubicBezTo>
                <a:cubicBezTo>
                  <a:pt x="15153" y="88718"/>
                  <a:pt x="24956" y="98521"/>
                  <a:pt x="37055" y="98521"/>
                </a:cubicBezTo>
                <a:cubicBezTo>
                  <a:pt x="40962" y="98521"/>
                  <a:pt x="44774" y="97479"/>
                  <a:pt x="48112" y="95538"/>
                </a:cubicBezTo>
                <a:cubicBezTo>
                  <a:pt x="51853" y="99326"/>
                  <a:pt x="56210" y="102499"/>
                  <a:pt x="61040" y="104890"/>
                </a:cubicBezTo>
                <a:cubicBezTo>
                  <a:pt x="54363" y="110549"/>
                  <a:pt x="45886" y="113698"/>
                  <a:pt x="37055" y="113698"/>
                </a:cubicBezTo>
                <a:cubicBezTo>
                  <a:pt x="16598" y="113698"/>
                  <a:pt x="0" y="97124"/>
                  <a:pt x="0" y="76643"/>
                </a:cubicBezTo>
                <a:cubicBezTo>
                  <a:pt x="0" y="66817"/>
                  <a:pt x="3907" y="57394"/>
                  <a:pt x="10844" y="50456"/>
                </a:cubicBezTo>
                <a:lnTo>
                  <a:pt x="27679" y="33622"/>
                </a:lnTo>
                <a:cubicBezTo>
                  <a:pt x="34616" y="26684"/>
                  <a:pt x="44040" y="22777"/>
                  <a:pt x="53866" y="22777"/>
                </a:cubicBezTo>
                <a:cubicBezTo>
                  <a:pt x="74370" y="22777"/>
                  <a:pt x="90920" y="39494"/>
                  <a:pt x="90920" y="59927"/>
                </a:cubicBezTo>
                <a:cubicBezTo>
                  <a:pt x="90920" y="60235"/>
                  <a:pt x="90920" y="60543"/>
                  <a:pt x="90920" y="60850"/>
                </a:cubicBezTo>
                <a:cubicBezTo>
                  <a:pt x="90826" y="65041"/>
                  <a:pt x="87345" y="68332"/>
                  <a:pt x="83154" y="68238"/>
                </a:cubicBezTo>
                <a:cubicBezTo>
                  <a:pt x="78963" y="68143"/>
                  <a:pt x="75672" y="64662"/>
                  <a:pt x="75767" y="60472"/>
                </a:cubicBezTo>
                <a:cubicBezTo>
                  <a:pt x="75767" y="60282"/>
                  <a:pt x="75767" y="60116"/>
                  <a:pt x="75767" y="59927"/>
                </a:cubicBezTo>
                <a:cubicBezTo>
                  <a:pt x="75767" y="51948"/>
                  <a:pt x="71505" y="44939"/>
                  <a:pt x="65160" y="4108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49" name="Text 47"/>
          <p:cNvSpPr/>
          <p:nvPr/>
        </p:nvSpPr>
        <p:spPr>
          <a:xfrm>
            <a:off x="6847609" y="1877293"/>
            <a:ext cx="4182341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Integrity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47609" y="2119748"/>
            <a:ext cx="4182341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key constraints ensure data consistency across related tables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2700" y="2535384"/>
            <a:ext cx="5299364" cy="658091"/>
          </a:xfrm>
          <a:custGeom>
            <a:avLst/>
            <a:gdLst/>
            <a:ahLst/>
            <a:cxnLst/>
            <a:rect l="l" t="t" r="r" b="b"/>
            <a:pathLst>
              <a:path w="5299364" h="658091">
                <a:moveTo>
                  <a:pt x="69271" y="0"/>
                </a:moveTo>
                <a:lnTo>
                  <a:pt x="5230093" y="0"/>
                </a:lnTo>
                <a:cubicBezTo>
                  <a:pt x="5268350" y="0"/>
                  <a:pt x="5299364" y="31014"/>
                  <a:pt x="5299364" y="69271"/>
                </a:cubicBezTo>
                <a:lnTo>
                  <a:pt x="5299364" y="588820"/>
                </a:lnTo>
                <a:cubicBezTo>
                  <a:pt x="5299364" y="627077"/>
                  <a:pt x="5268350" y="658091"/>
                  <a:pt x="5230093" y="658091"/>
                </a:cubicBezTo>
                <a:lnTo>
                  <a:pt x="69271" y="658091"/>
                </a:lnTo>
                <a:cubicBezTo>
                  <a:pt x="31014" y="658091"/>
                  <a:pt x="0" y="627077"/>
                  <a:pt x="0" y="588820"/>
                </a:cubicBezTo>
                <a:lnTo>
                  <a:pt x="0" y="69271"/>
                </a:lnTo>
                <a:cubicBezTo>
                  <a:pt x="0" y="31039"/>
                  <a:pt x="31039" y="0"/>
                  <a:pt x="69271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66609" y="2673930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69273" y="0"/>
                </a:moveTo>
                <a:lnTo>
                  <a:pt x="207818" y="0"/>
                </a:lnTo>
                <a:cubicBezTo>
                  <a:pt x="246051" y="0"/>
                  <a:pt x="277091" y="31040"/>
                  <a:pt x="277091" y="69273"/>
                </a:cubicBezTo>
                <a:lnTo>
                  <a:pt x="277091" y="207818"/>
                </a:lnTo>
                <a:cubicBezTo>
                  <a:pt x="277091" y="246051"/>
                  <a:pt x="246051" y="277091"/>
                  <a:pt x="207818" y="277091"/>
                </a:cubicBezTo>
                <a:lnTo>
                  <a:pt x="69273" y="277091"/>
                </a:lnTo>
                <a:cubicBezTo>
                  <a:pt x="31040" y="277091"/>
                  <a:pt x="0" y="246051"/>
                  <a:pt x="0" y="207818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546706" y="2751862"/>
            <a:ext cx="121227" cy="121227"/>
          </a:xfrm>
          <a:custGeom>
            <a:avLst/>
            <a:gdLst/>
            <a:ahLst/>
            <a:cxnLst/>
            <a:rect l="l" t="t" r="r" b="b"/>
            <a:pathLst>
              <a:path w="121227" h="121227">
                <a:moveTo>
                  <a:pt x="60614" y="0"/>
                </a:moveTo>
                <a:cubicBezTo>
                  <a:pt x="61703" y="0"/>
                  <a:pt x="62792" y="237"/>
                  <a:pt x="63786" y="687"/>
                </a:cubicBezTo>
                <a:lnTo>
                  <a:pt x="108394" y="19605"/>
                </a:lnTo>
                <a:cubicBezTo>
                  <a:pt x="113603" y="21807"/>
                  <a:pt x="117486" y="26945"/>
                  <a:pt x="117463" y="33148"/>
                </a:cubicBezTo>
                <a:cubicBezTo>
                  <a:pt x="117344" y="56636"/>
                  <a:pt x="107684" y="99610"/>
                  <a:pt x="66888" y="119144"/>
                </a:cubicBezTo>
                <a:cubicBezTo>
                  <a:pt x="62934" y="121038"/>
                  <a:pt x="58341" y="121038"/>
                  <a:pt x="54387" y="119144"/>
                </a:cubicBezTo>
                <a:cubicBezTo>
                  <a:pt x="13567" y="99610"/>
                  <a:pt x="3930" y="56636"/>
                  <a:pt x="3812" y="33148"/>
                </a:cubicBezTo>
                <a:cubicBezTo>
                  <a:pt x="3788" y="26945"/>
                  <a:pt x="7671" y="21807"/>
                  <a:pt x="12880" y="19605"/>
                </a:cubicBezTo>
                <a:lnTo>
                  <a:pt x="57465" y="687"/>
                </a:lnTo>
                <a:cubicBezTo>
                  <a:pt x="58459" y="237"/>
                  <a:pt x="59524" y="0"/>
                  <a:pt x="60614" y="0"/>
                </a:cubicBezTo>
                <a:close/>
                <a:moveTo>
                  <a:pt x="60614" y="15816"/>
                </a:moveTo>
                <a:lnTo>
                  <a:pt x="60614" y="105340"/>
                </a:lnTo>
                <a:cubicBezTo>
                  <a:pt x="93288" y="89523"/>
                  <a:pt x="102072" y="54481"/>
                  <a:pt x="102286" y="33503"/>
                </a:cubicBezTo>
                <a:lnTo>
                  <a:pt x="60614" y="15840"/>
                </a:lnTo>
                <a:lnTo>
                  <a:pt x="60614" y="1584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4" name="Text 52"/>
          <p:cNvSpPr/>
          <p:nvPr/>
        </p:nvSpPr>
        <p:spPr>
          <a:xfrm>
            <a:off x="6847609" y="2639293"/>
            <a:ext cx="428625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Validation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47609" y="2881748"/>
            <a:ext cx="428625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constraints on score fields (0-1 range) prevent invalid data entry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62700" y="3297384"/>
            <a:ext cx="5299364" cy="658091"/>
          </a:xfrm>
          <a:custGeom>
            <a:avLst/>
            <a:gdLst/>
            <a:ahLst/>
            <a:cxnLst/>
            <a:rect l="l" t="t" r="r" b="b"/>
            <a:pathLst>
              <a:path w="5299364" h="658091">
                <a:moveTo>
                  <a:pt x="69271" y="0"/>
                </a:moveTo>
                <a:lnTo>
                  <a:pt x="5230093" y="0"/>
                </a:lnTo>
                <a:cubicBezTo>
                  <a:pt x="5268350" y="0"/>
                  <a:pt x="5299364" y="31014"/>
                  <a:pt x="5299364" y="69271"/>
                </a:cubicBezTo>
                <a:lnTo>
                  <a:pt x="5299364" y="588820"/>
                </a:lnTo>
                <a:cubicBezTo>
                  <a:pt x="5299364" y="627077"/>
                  <a:pt x="5268350" y="658091"/>
                  <a:pt x="5230093" y="658091"/>
                </a:cubicBezTo>
                <a:lnTo>
                  <a:pt x="69271" y="658091"/>
                </a:lnTo>
                <a:cubicBezTo>
                  <a:pt x="31014" y="658091"/>
                  <a:pt x="0" y="627077"/>
                  <a:pt x="0" y="588820"/>
                </a:cubicBezTo>
                <a:lnTo>
                  <a:pt x="0" y="69271"/>
                </a:lnTo>
                <a:cubicBezTo>
                  <a:pt x="0" y="31039"/>
                  <a:pt x="31039" y="0"/>
                  <a:pt x="69271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66609" y="3435930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69273" y="0"/>
                </a:moveTo>
                <a:lnTo>
                  <a:pt x="207818" y="0"/>
                </a:lnTo>
                <a:cubicBezTo>
                  <a:pt x="246051" y="0"/>
                  <a:pt x="277091" y="31040"/>
                  <a:pt x="277091" y="69273"/>
                </a:cubicBezTo>
                <a:lnTo>
                  <a:pt x="277091" y="207818"/>
                </a:lnTo>
                <a:cubicBezTo>
                  <a:pt x="277091" y="246051"/>
                  <a:pt x="246051" y="277091"/>
                  <a:pt x="207818" y="277091"/>
                </a:cubicBezTo>
                <a:lnTo>
                  <a:pt x="69273" y="277091"/>
                </a:lnTo>
                <a:cubicBezTo>
                  <a:pt x="31040" y="277091"/>
                  <a:pt x="0" y="246051"/>
                  <a:pt x="0" y="207818"/>
                </a:cubicBezTo>
                <a:lnTo>
                  <a:pt x="0" y="69273"/>
                </a:lnTo>
                <a:cubicBezTo>
                  <a:pt x="0" y="31040"/>
                  <a:pt x="31040" y="0"/>
                  <a:pt x="69273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554282" y="3513862"/>
            <a:ext cx="106074" cy="121227"/>
          </a:xfrm>
          <a:custGeom>
            <a:avLst/>
            <a:gdLst/>
            <a:ahLst/>
            <a:cxnLst/>
            <a:rect l="l" t="t" r="r" b="b"/>
            <a:pathLst>
              <a:path w="106074" h="121227">
                <a:moveTo>
                  <a:pt x="7577" y="7577"/>
                </a:moveTo>
                <a:cubicBezTo>
                  <a:pt x="3386" y="7577"/>
                  <a:pt x="0" y="10963"/>
                  <a:pt x="0" y="15153"/>
                </a:cubicBezTo>
                <a:lnTo>
                  <a:pt x="0" y="37884"/>
                </a:lnTo>
                <a:cubicBezTo>
                  <a:pt x="0" y="42074"/>
                  <a:pt x="3386" y="45460"/>
                  <a:pt x="7577" y="45460"/>
                </a:cubicBezTo>
                <a:cubicBezTo>
                  <a:pt x="11768" y="45460"/>
                  <a:pt x="15153" y="42074"/>
                  <a:pt x="15153" y="37884"/>
                </a:cubicBezTo>
                <a:lnTo>
                  <a:pt x="15153" y="22730"/>
                </a:lnTo>
                <a:lnTo>
                  <a:pt x="30307" y="22730"/>
                </a:lnTo>
                <a:cubicBezTo>
                  <a:pt x="34498" y="22730"/>
                  <a:pt x="37884" y="19344"/>
                  <a:pt x="37884" y="15153"/>
                </a:cubicBezTo>
                <a:cubicBezTo>
                  <a:pt x="37884" y="10963"/>
                  <a:pt x="34498" y="7577"/>
                  <a:pt x="30307" y="7577"/>
                </a:cubicBezTo>
                <a:lnTo>
                  <a:pt x="7577" y="7577"/>
                </a:lnTo>
                <a:close/>
                <a:moveTo>
                  <a:pt x="15153" y="83344"/>
                </a:moveTo>
                <a:cubicBezTo>
                  <a:pt x="15153" y="79153"/>
                  <a:pt x="11768" y="75767"/>
                  <a:pt x="7577" y="75767"/>
                </a:cubicBezTo>
                <a:cubicBezTo>
                  <a:pt x="3386" y="75767"/>
                  <a:pt x="0" y="79153"/>
                  <a:pt x="0" y="83344"/>
                </a:cubicBezTo>
                <a:lnTo>
                  <a:pt x="0" y="106074"/>
                </a:lnTo>
                <a:cubicBezTo>
                  <a:pt x="0" y="110265"/>
                  <a:pt x="3386" y="113651"/>
                  <a:pt x="7577" y="113651"/>
                </a:cubicBezTo>
                <a:lnTo>
                  <a:pt x="30307" y="113651"/>
                </a:lnTo>
                <a:cubicBezTo>
                  <a:pt x="34498" y="113651"/>
                  <a:pt x="37884" y="110265"/>
                  <a:pt x="37884" y="106074"/>
                </a:cubicBezTo>
                <a:cubicBezTo>
                  <a:pt x="37884" y="101883"/>
                  <a:pt x="34498" y="98497"/>
                  <a:pt x="30307" y="98497"/>
                </a:cubicBezTo>
                <a:lnTo>
                  <a:pt x="15153" y="98497"/>
                </a:lnTo>
                <a:lnTo>
                  <a:pt x="15153" y="83344"/>
                </a:lnTo>
                <a:close/>
                <a:moveTo>
                  <a:pt x="75767" y="7577"/>
                </a:moveTo>
                <a:cubicBezTo>
                  <a:pt x="71576" y="7577"/>
                  <a:pt x="68190" y="10963"/>
                  <a:pt x="68190" y="15153"/>
                </a:cubicBezTo>
                <a:cubicBezTo>
                  <a:pt x="68190" y="19344"/>
                  <a:pt x="71576" y="22730"/>
                  <a:pt x="75767" y="22730"/>
                </a:cubicBezTo>
                <a:lnTo>
                  <a:pt x="90920" y="22730"/>
                </a:lnTo>
                <a:lnTo>
                  <a:pt x="90920" y="37884"/>
                </a:lnTo>
                <a:cubicBezTo>
                  <a:pt x="90920" y="42074"/>
                  <a:pt x="94306" y="45460"/>
                  <a:pt x="98497" y="45460"/>
                </a:cubicBezTo>
                <a:cubicBezTo>
                  <a:pt x="102688" y="45460"/>
                  <a:pt x="106074" y="42074"/>
                  <a:pt x="106074" y="37884"/>
                </a:cubicBezTo>
                <a:lnTo>
                  <a:pt x="106074" y="15153"/>
                </a:lnTo>
                <a:cubicBezTo>
                  <a:pt x="106074" y="10963"/>
                  <a:pt x="102688" y="7577"/>
                  <a:pt x="98497" y="7577"/>
                </a:cubicBezTo>
                <a:lnTo>
                  <a:pt x="75767" y="7577"/>
                </a:lnTo>
                <a:close/>
                <a:moveTo>
                  <a:pt x="106074" y="83344"/>
                </a:moveTo>
                <a:cubicBezTo>
                  <a:pt x="106074" y="79153"/>
                  <a:pt x="102688" y="75767"/>
                  <a:pt x="98497" y="75767"/>
                </a:cubicBezTo>
                <a:cubicBezTo>
                  <a:pt x="94306" y="75767"/>
                  <a:pt x="90920" y="79153"/>
                  <a:pt x="90920" y="83344"/>
                </a:cubicBezTo>
                <a:lnTo>
                  <a:pt x="90920" y="98497"/>
                </a:lnTo>
                <a:lnTo>
                  <a:pt x="75767" y="98497"/>
                </a:lnTo>
                <a:cubicBezTo>
                  <a:pt x="71576" y="98497"/>
                  <a:pt x="68190" y="101883"/>
                  <a:pt x="68190" y="106074"/>
                </a:cubicBezTo>
                <a:cubicBezTo>
                  <a:pt x="68190" y="110265"/>
                  <a:pt x="71576" y="113651"/>
                  <a:pt x="75767" y="113651"/>
                </a:cubicBezTo>
                <a:lnTo>
                  <a:pt x="98497" y="113651"/>
                </a:lnTo>
                <a:cubicBezTo>
                  <a:pt x="102688" y="113651"/>
                  <a:pt x="106074" y="110265"/>
                  <a:pt x="106074" y="106074"/>
                </a:cubicBezTo>
                <a:lnTo>
                  <a:pt x="106074" y="83344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9" name="Text 57"/>
          <p:cNvSpPr/>
          <p:nvPr/>
        </p:nvSpPr>
        <p:spPr>
          <a:xfrm>
            <a:off x="6847609" y="3401293"/>
            <a:ext cx="401781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47609" y="3643748"/>
            <a:ext cx="401781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backend supports future growth and complex queries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86258" y="4364183"/>
            <a:ext cx="5652655" cy="1011382"/>
          </a:xfrm>
          <a:custGeom>
            <a:avLst/>
            <a:gdLst/>
            <a:ahLst/>
            <a:cxnLst/>
            <a:rect l="l" t="t" r="r" b="b"/>
            <a:pathLst>
              <a:path w="5652655" h="1011382">
                <a:moveTo>
                  <a:pt x="103909" y="0"/>
                </a:moveTo>
                <a:lnTo>
                  <a:pt x="5548745" y="0"/>
                </a:lnTo>
                <a:cubicBezTo>
                  <a:pt x="5606133" y="0"/>
                  <a:pt x="5652655" y="46522"/>
                  <a:pt x="5652655" y="103909"/>
                </a:cubicBezTo>
                <a:lnTo>
                  <a:pt x="5652655" y="907472"/>
                </a:lnTo>
                <a:cubicBezTo>
                  <a:pt x="5652655" y="964860"/>
                  <a:pt x="5606133" y="1011382"/>
                  <a:pt x="5548745" y="1011382"/>
                </a:cubicBezTo>
                <a:lnTo>
                  <a:pt x="103909" y="1011382"/>
                </a:lnTo>
                <a:cubicBezTo>
                  <a:pt x="46522" y="1011382"/>
                  <a:pt x="0" y="964860"/>
                  <a:pt x="0" y="907472"/>
                </a:cubicBezTo>
                <a:lnTo>
                  <a:pt x="0" y="103909"/>
                </a:lnTo>
                <a:cubicBezTo>
                  <a:pt x="0" y="46522"/>
                  <a:pt x="46522" y="0"/>
                  <a:pt x="103909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2393" y="4406663"/>
            <a:ext cx="5446568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27198" y="4717475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69274" y="0"/>
                </a:moveTo>
                <a:lnTo>
                  <a:pt x="346362" y="0"/>
                </a:lnTo>
                <a:cubicBezTo>
                  <a:pt x="384596" y="0"/>
                  <a:pt x="415636" y="31041"/>
                  <a:pt x="415636" y="69274"/>
                </a:cubicBezTo>
                <a:lnTo>
                  <a:pt x="415636" y="346362"/>
                </a:lnTo>
                <a:cubicBezTo>
                  <a:pt x="415636" y="384621"/>
                  <a:pt x="384621" y="415636"/>
                  <a:pt x="346362" y="415636"/>
                </a:cubicBezTo>
                <a:lnTo>
                  <a:pt x="69274" y="415636"/>
                </a:lnTo>
                <a:cubicBezTo>
                  <a:pt x="31041" y="415636"/>
                  <a:pt x="0" y="384596"/>
                  <a:pt x="0" y="346362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59249" y="4838702"/>
            <a:ext cx="151534" cy="173182"/>
          </a:xfrm>
          <a:custGeom>
            <a:avLst/>
            <a:gdLst/>
            <a:ahLst/>
            <a:cxnLst/>
            <a:rect l="l" t="t" r="r" b="b"/>
            <a:pathLst>
              <a:path w="151534" h="173182">
                <a:moveTo>
                  <a:pt x="21648" y="10824"/>
                </a:moveTo>
                <a:cubicBezTo>
                  <a:pt x="9708" y="10824"/>
                  <a:pt x="0" y="20532"/>
                  <a:pt x="0" y="32472"/>
                </a:cubicBezTo>
                <a:lnTo>
                  <a:pt x="0" y="54119"/>
                </a:lnTo>
                <a:cubicBezTo>
                  <a:pt x="0" y="66059"/>
                  <a:pt x="9708" y="75767"/>
                  <a:pt x="21648" y="75767"/>
                </a:cubicBezTo>
                <a:lnTo>
                  <a:pt x="129886" y="75767"/>
                </a:lnTo>
                <a:cubicBezTo>
                  <a:pt x="141826" y="75767"/>
                  <a:pt x="151534" y="66059"/>
                  <a:pt x="151534" y="54119"/>
                </a:cubicBezTo>
                <a:lnTo>
                  <a:pt x="151534" y="32472"/>
                </a:lnTo>
                <a:cubicBezTo>
                  <a:pt x="151534" y="20532"/>
                  <a:pt x="141826" y="10824"/>
                  <a:pt x="129886" y="10824"/>
                </a:cubicBezTo>
                <a:lnTo>
                  <a:pt x="21648" y="10824"/>
                </a:lnTo>
                <a:close/>
                <a:moveTo>
                  <a:pt x="94709" y="35178"/>
                </a:moveTo>
                <a:cubicBezTo>
                  <a:pt x="99189" y="35178"/>
                  <a:pt x="102827" y="38815"/>
                  <a:pt x="102827" y="43295"/>
                </a:cubicBezTo>
                <a:cubicBezTo>
                  <a:pt x="102827" y="47776"/>
                  <a:pt x="99189" y="51413"/>
                  <a:pt x="94709" y="51413"/>
                </a:cubicBezTo>
                <a:cubicBezTo>
                  <a:pt x="90228" y="51413"/>
                  <a:pt x="86591" y="47776"/>
                  <a:pt x="86591" y="43295"/>
                </a:cubicBezTo>
                <a:cubicBezTo>
                  <a:pt x="86591" y="38815"/>
                  <a:pt x="90228" y="35178"/>
                  <a:pt x="94709" y="35178"/>
                </a:cubicBezTo>
                <a:close/>
                <a:moveTo>
                  <a:pt x="113651" y="43295"/>
                </a:moveTo>
                <a:cubicBezTo>
                  <a:pt x="113651" y="38815"/>
                  <a:pt x="117288" y="35178"/>
                  <a:pt x="121768" y="35178"/>
                </a:cubicBezTo>
                <a:cubicBezTo>
                  <a:pt x="126249" y="35178"/>
                  <a:pt x="129886" y="38815"/>
                  <a:pt x="129886" y="43295"/>
                </a:cubicBezTo>
                <a:cubicBezTo>
                  <a:pt x="129886" y="47776"/>
                  <a:pt x="126249" y="51413"/>
                  <a:pt x="121768" y="51413"/>
                </a:cubicBezTo>
                <a:cubicBezTo>
                  <a:pt x="117288" y="51413"/>
                  <a:pt x="113651" y="47776"/>
                  <a:pt x="113651" y="43295"/>
                </a:cubicBezTo>
                <a:close/>
                <a:moveTo>
                  <a:pt x="21648" y="97415"/>
                </a:moveTo>
                <a:cubicBezTo>
                  <a:pt x="9708" y="97415"/>
                  <a:pt x="0" y="107122"/>
                  <a:pt x="0" y="119063"/>
                </a:cubicBezTo>
                <a:lnTo>
                  <a:pt x="0" y="140710"/>
                </a:lnTo>
                <a:cubicBezTo>
                  <a:pt x="0" y="152650"/>
                  <a:pt x="9708" y="162358"/>
                  <a:pt x="21648" y="162358"/>
                </a:cubicBezTo>
                <a:lnTo>
                  <a:pt x="129886" y="162358"/>
                </a:lnTo>
                <a:cubicBezTo>
                  <a:pt x="141826" y="162358"/>
                  <a:pt x="151534" y="152650"/>
                  <a:pt x="151534" y="140710"/>
                </a:cubicBezTo>
                <a:lnTo>
                  <a:pt x="151534" y="119063"/>
                </a:lnTo>
                <a:cubicBezTo>
                  <a:pt x="151534" y="107122"/>
                  <a:pt x="141826" y="97415"/>
                  <a:pt x="129886" y="97415"/>
                </a:cubicBezTo>
                <a:lnTo>
                  <a:pt x="21648" y="97415"/>
                </a:lnTo>
                <a:close/>
                <a:moveTo>
                  <a:pt x="94709" y="121768"/>
                </a:moveTo>
                <a:cubicBezTo>
                  <a:pt x="99189" y="121768"/>
                  <a:pt x="102827" y="125406"/>
                  <a:pt x="102827" y="129886"/>
                </a:cubicBezTo>
                <a:cubicBezTo>
                  <a:pt x="102827" y="134367"/>
                  <a:pt x="99189" y="138004"/>
                  <a:pt x="94709" y="138004"/>
                </a:cubicBezTo>
                <a:cubicBezTo>
                  <a:pt x="90228" y="138004"/>
                  <a:pt x="86591" y="134367"/>
                  <a:pt x="86591" y="129886"/>
                </a:cubicBezTo>
                <a:cubicBezTo>
                  <a:pt x="86591" y="125406"/>
                  <a:pt x="90228" y="121768"/>
                  <a:pt x="94709" y="121768"/>
                </a:cubicBezTo>
                <a:close/>
                <a:moveTo>
                  <a:pt x="113651" y="129886"/>
                </a:moveTo>
                <a:cubicBezTo>
                  <a:pt x="113651" y="125406"/>
                  <a:pt x="117288" y="121768"/>
                  <a:pt x="121768" y="121768"/>
                </a:cubicBezTo>
                <a:cubicBezTo>
                  <a:pt x="126249" y="121768"/>
                  <a:pt x="129886" y="125406"/>
                  <a:pt x="129886" y="129886"/>
                </a:cubicBezTo>
                <a:cubicBezTo>
                  <a:pt x="129886" y="134367"/>
                  <a:pt x="126249" y="138004"/>
                  <a:pt x="121768" y="138004"/>
                </a:cubicBezTo>
                <a:cubicBezTo>
                  <a:pt x="117288" y="138004"/>
                  <a:pt x="113651" y="134367"/>
                  <a:pt x="113651" y="129886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65" name="Text 63"/>
          <p:cNvSpPr/>
          <p:nvPr/>
        </p:nvSpPr>
        <p:spPr>
          <a:xfrm>
            <a:off x="6846743" y="4717475"/>
            <a:ext cx="249381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 (PostgreSQL)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46743" y="4925293"/>
            <a:ext cx="2493818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Cloud-hosted with real-time capabilities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Progress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12573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 workflows as of Review-1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642110"/>
            <a:ext cx="3703320" cy="4246245"/>
          </a:xfrm>
          <a:custGeom>
            <a:avLst/>
            <a:gdLst/>
            <a:ahLst/>
            <a:cxnLst/>
            <a:rect l="l" t="t" r="r" b="b"/>
            <a:pathLst>
              <a:path w="3703320" h="42462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131961"/>
                </a:lnTo>
                <a:cubicBezTo>
                  <a:pt x="3703320" y="4195078"/>
                  <a:pt x="3652153" y="4246245"/>
                  <a:pt x="3589036" y="4246245"/>
                </a:cubicBezTo>
                <a:lnTo>
                  <a:pt x="114284" y="4246245"/>
                </a:lnTo>
                <a:cubicBezTo>
                  <a:pt x="51167" y="4246245"/>
                  <a:pt x="0" y="4195078"/>
                  <a:pt x="0" y="41319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6719" y="1798323"/>
            <a:ext cx="857249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1020" y="1760339"/>
            <a:ext cx="64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WF-01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2090" y="1806625"/>
            <a:ext cx="2828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&amp; Sales Data Ingestion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82090" y="2087493"/>
            <a:ext cx="790575" cy="228600"/>
          </a:xfrm>
          <a:custGeom>
            <a:avLst/>
            <a:gdLst/>
            <a:ahLst/>
            <a:cxnLst/>
            <a:rect l="l" t="t" r="r" b="b"/>
            <a:pathLst>
              <a:path w="790575" h="228600">
                <a:moveTo>
                  <a:pt x="38101" y="0"/>
                </a:moveTo>
                <a:lnTo>
                  <a:pt x="752474" y="0"/>
                </a:lnTo>
                <a:cubicBezTo>
                  <a:pt x="773517" y="0"/>
                  <a:pt x="790575" y="17058"/>
                  <a:pt x="790575" y="38101"/>
                </a:cubicBezTo>
                <a:lnTo>
                  <a:pt x="790575" y="190499"/>
                </a:lnTo>
                <a:cubicBezTo>
                  <a:pt x="790575" y="211542"/>
                  <a:pt x="773517" y="228600"/>
                  <a:pt x="7524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86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82090" y="2068164"/>
            <a:ext cx="85725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2446023"/>
            <a:ext cx="3390900" cy="876300"/>
          </a:xfrm>
          <a:custGeom>
            <a:avLst/>
            <a:gdLst/>
            <a:ahLst/>
            <a:cxnLst/>
            <a:rect l="l" t="t" r="r" b="b"/>
            <a:pathLst>
              <a:path w="3390900" h="876300">
                <a:moveTo>
                  <a:pt x="76203" y="0"/>
                </a:moveTo>
                <a:lnTo>
                  <a:pt x="3314697" y="0"/>
                </a:lnTo>
                <a:cubicBezTo>
                  <a:pt x="3356783" y="0"/>
                  <a:pt x="3390900" y="34117"/>
                  <a:pt x="3390900" y="76203"/>
                </a:cubicBezTo>
                <a:lnTo>
                  <a:pt x="3390900" y="800097"/>
                </a:lnTo>
                <a:cubicBezTo>
                  <a:pt x="3390900" y="842183"/>
                  <a:pt x="3356783" y="876300"/>
                  <a:pt x="33146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" y="2522223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" y="2788923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product data via webhook and stores it in the database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020" y="3398523"/>
            <a:ext cx="3390900" cy="1181100"/>
          </a:xfrm>
          <a:custGeom>
            <a:avLst/>
            <a:gdLst/>
            <a:ahLst/>
            <a:cxnLst/>
            <a:rect l="l" t="t" r="r" b="b"/>
            <a:pathLst>
              <a:path w="3390900" h="1181100">
                <a:moveTo>
                  <a:pt x="76205" y="0"/>
                </a:moveTo>
                <a:lnTo>
                  <a:pt x="3314695" y="0"/>
                </a:lnTo>
                <a:cubicBezTo>
                  <a:pt x="3356754" y="0"/>
                  <a:pt x="3390900" y="34146"/>
                  <a:pt x="3390900" y="76205"/>
                </a:cubicBezTo>
                <a:lnTo>
                  <a:pt x="3390900" y="1104895"/>
                </a:lnTo>
                <a:cubicBezTo>
                  <a:pt x="3390900" y="1146982"/>
                  <a:pt x="3356782" y="1181100"/>
                  <a:pt x="33146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" y="3474723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604" y="37795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8" name="Text 16"/>
          <p:cNvSpPr/>
          <p:nvPr/>
        </p:nvSpPr>
        <p:spPr>
          <a:xfrm>
            <a:off x="860108" y="3741423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Webhook endpoint for data intake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04" y="40462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0" name="Text 18"/>
          <p:cNvSpPr/>
          <p:nvPr/>
        </p:nvSpPr>
        <p:spPr>
          <a:xfrm>
            <a:off x="860108" y="4008123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and validation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604" y="43129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2" name="Text 20"/>
          <p:cNvSpPr/>
          <p:nvPr/>
        </p:nvSpPr>
        <p:spPr>
          <a:xfrm>
            <a:off x="860108" y="4274823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or update product records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830" y="5337810"/>
            <a:ext cx="3379470" cy="388620"/>
          </a:xfrm>
          <a:custGeom>
            <a:avLst/>
            <a:gdLst/>
            <a:ahLst/>
            <a:cxnLst/>
            <a:rect l="l" t="t" r="r" b="b"/>
            <a:pathLst>
              <a:path w="3379470" h="388620">
                <a:moveTo>
                  <a:pt x="76201" y="0"/>
                </a:moveTo>
                <a:lnTo>
                  <a:pt x="3303269" y="0"/>
                </a:lnTo>
                <a:cubicBezTo>
                  <a:pt x="3345354" y="0"/>
                  <a:pt x="3379470" y="34116"/>
                  <a:pt x="3379470" y="76201"/>
                </a:cubicBezTo>
                <a:lnTo>
                  <a:pt x="3379470" y="312419"/>
                </a:lnTo>
                <a:cubicBezTo>
                  <a:pt x="3379470" y="354504"/>
                  <a:pt x="3345354" y="388620"/>
                  <a:pt x="3303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840" y="5417823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Fully functional and tested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5531" y="1642110"/>
            <a:ext cx="3703320" cy="4246245"/>
          </a:xfrm>
          <a:custGeom>
            <a:avLst/>
            <a:gdLst/>
            <a:ahLst/>
            <a:cxnLst/>
            <a:rect l="l" t="t" r="r" b="b"/>
            <a:pathLst>
              <a:path w="3703320" h="42462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131961"/>
                </a:lnTo>
                <a:cubicBezTo>
                  <a:pt x="3703320" y="4195078"/>
                  <a:pt x="3652153" y="4246245"/>
                  <a:pt x="3589036" y="4246245"/>
                </a:cubicBezTo>
                <a:lnTo>
                  <a:pt x="114284" y="4246245"/>
                </a:lnTo>
                <a:cubicBezTo>
                  <a:pt x="51167" y="4246245"/>
                  <a:pt x="0" y="4195078"/>
                  <a:pt x="0" y="41319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1015" y="1879284"/>
            <a:ext cx="624126" cy="538163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401741" y="1841302"/>
            <a:ext cx="64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WF-03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49441" y="1798323"/>
            <a:ext cx="2828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Processing &amp; Stock Depletion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49441" y="2265048"/>
            <a:ext cx="790575" cy="228600"/>
          </a:xfrm>
          <a:custGeom>
            <a:avLst/>
            <a:gdLst/>
            <a:ahLst/>
            <a:cxnLst/>
            <a:rect l="l" t="t" r="r" b="b"/>
            <a:pathLst>
              <a:path w="790575" h="228600">
                <a:moveTo>
                  <a:pt x="38101" y="0"/>
                </a:moveTo>
                <a:lnTo>
                  <a:pt x="752474" y="0"/>
                </a:lnTo>
                <a:cubicBezTo>
                  <a:pt x="773517" y="0"/>
                  <a:pt x="790575" y="17058"/>
                  <a:pt x="790575" y="38101"/>
                </a:cubicBezTo>
                <a:lnTo>
                  <a:pt x="790575" y="190499"/>
                </a:lnTo>
                <a:cubicBezTo>
                  <a:pt x="790575" y="211542"/>
                  <a:pt x="773517" y="228600"/>
                  <a:pt x="7524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86C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49441" y="2265048"/>
            <a:ext cx="85725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1741" y="2607948"/>
            <a:ext cx="3390900" cy="876300"/>
          </a:xfrm>
          <a:custGeom>
            <a:avLst/>
            <a:gdLst/>
            <a:ahLst/>
            <a:cxnLst/>
            <a:rect l="l" t="t" r="r" b="b"/>
            <a:pathLst>
              <a:path w="3390900" h="876300">
                <a:moveTo>
                  <a:pt x="76203" y="0"/>
                </a:moveTo>
                <a:lnTo>
                  <a:pt x="3314697" y="0"/>
                </a:lnTo>
                <a:cubicBezTo>
                  <a:pt x="3356783" y="0"/>
                  <a:pt x="3390900" y="34117"/>
                  <a:pt x="3390900" y="76203"/>
                </a:cubicBezTo>
                <a:lnTo>
                  <a:pt x="3390900" y="800097"/>
                </a:lnTo>
                <a:cubicBezTo>
                  <a:pt x="3390900" y="842183"/>
                  <a:pt x="3356783" y="876300"/>
                  <a:pt x="331469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477941" y="2684148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77941" y="2950848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Calculates stock depletion metrics and generates alerts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01741" y="3560448"/>
            <a:ext cx="3390900" cy="1447800"/>
          </a:xfrm>
          <a:custGeom>
            <a:avLst/>
            <a:gdLst/>
            <a:ahLst/>
            <a:cxnLst/>
            <a:rect l="l" t="t" r="r" b="b"/>
            <a:pathLst>
              <a:path w="3390900" h="1447800">
                <a:moveTo>
                  <a:pt x="76198" y="0"/>
                </a:moveTo>
                <a:lnTo>
                  <a:pt x="3314702" y="0"/>
                </a:lnTo>
                <a:cubicBezTo>
                  <a:pt x="3356757" y="0"/>
                  <a:pt x="3390900" y="34143"/>
                  <a:pt x="3390900" y="76198"/>
                </a:cubicBezTo>
                <a:lnTo>
                  <a:pt x="3390900" y="1371602"/>
                </a:lnTo>
                <a:cubicBezTo>
                  <a:pt x="3390900" y="1413657"/>
                  <a:pt x="3356757" y="1447800"/>
                  <a:pt x="33147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477941" y="3636648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05325" y="39414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7" name="Text 35"/>
          <p:cNvSpPr/>
          <p:nvPr/>
        </p:nvSpPr>
        <p:spPr>
          <a:xfrm>
            <a:off x="4720828" y="3903348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Fetch all products from database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05325" y="42081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9" name="Text 37"/>
          <p:cNvSpPr/>
          <p:nvPr/>
        </p:nvSpPr>
        <p:spPr>
          <a:xfrm>
            <a:off x="4720828" y="4170048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days to stockout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05325" y="4474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41" name="Text 39"/>
          <p:cNvSpPr/>
          <p:nvPr/>
        </p:nvSpPr>
        <p:spPr>
          <a:xfrm>
            <a:off x="4720828" y="4436748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products with computed fields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05325" y="47415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43" name="Text 41"/>
          <p:cNvSpPr/>
          <p:nvPr/>
        </p:nvSpPr>
        <p:spPr>
          <a:xfrm>
            <a:off x="4720828" y="4703448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Create/update stock alerts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05551" y="5337810"/>
            <a:ext cx="3379470" cy="388620"/>
          </a:xfrm>
          <a:custGeom>
            <a:avLst/>
            <a:gdLst/>
            <a:ahLst/>
            <a:cxnLst/>
            <a:rect l="l" t="t" r="r" b="b"/>
            <a:pathLst>
              <a:path w="3379470" h="388620">
                <a:moveTo>
                  <a:pt x="76201" y="0"/>
                </a:moveTo>
                <a:lnTo>
                  <a:pt x="3303269" y="0"/>
                </a:lnTo>
                <a:cubicBezTo>
                  <a:pt x="3345354" y="0"/>
                  <a:pt x="3379470" y="34116"/>
                  <a:pt x="3379470" y="76201"/>
                </a:cubicBezTo>
                <a:lnTo>
                  <a:pt x="3379470" y="312419"/>
                </a:lnTo>
                <a:cubicBezTo>
                  <a:pt x="3379470" y="354504"/>
                  <a:pt x="3345354" y="388620"/>
                  <a:pt x="33032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5561" y="5417823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Core logic implemented and tested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06371" y="1642110"/>
            <a:ext cx="3703320" cy="4246245"/>
          </a:xfrm>
          <a:custGeom>
            <a:avLst/>
            <a:gdLst/>
            <a:ahLst/>
            <a:cxnLst/>
            <a:rect l="l" t="t" r="r" b="b"/>
            <a:pathLst>
              <a:path w="3703320" h="42462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131961"/>
                </a:lnTo>
                <a:cubicBezTo>
                  <a:pt x="3703320" y="4195078"/>
                  <a:pt x="3652153" y="4246245"/>
                  <a:pt x="3589036" y="4246245"/>
                </a:cubicBezTo>
                <a:lnTo>
                  <a:pt x="114284" y="4246245"/>
                </a:lnTo>
                <a:cubicBezTo>
                  <a:pt x="51167" y="4246245"/>
                  <a:pt x="0" y="4195078"/>
                  <a:pt x="0" y="41319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62581" y="17983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262581" y="1760339"/>
            <a:ext cx="64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WF-04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10281" y="1824517"/>
            <a:ext cx="2828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Risk Classification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910281" y="2076929"/>
            <a:ext cx="790575" cy="228600"/>
          </a:xfrm>
          <a:custGeom>
            <a:avLst/>
            <a:gdLst/>
            <a:ahLst/>
            <a:cxnLst/>
            <a:rect l="l" t="t" r="r" b="b"/>
            <a:pathLst>
              <a:path w="790575" h="228600">
                <a:moveTo>
                  <a:pt x="38101" y="0"/>
                </a:moveTo>
                <a:lnTo>
                  <a:pt x="752474" y="0"/>
                </a:lnTo>
                <a:cubicBezTo>
                  <a:pt x="773517" y="0"/>
                  <a:pt x="790575" y="17058"/>
                  <a:pt x="790575" y="38101"/>
                </a:cubicBezTo>
                <a:lnTo>
                  <a:pt x="790575" y="190499"/>
                </a:lnTo>
                <a:cubicBezTo>
                  <a:pt x="790575" y="211542"/>
                  <a:pt x="773517" y="228600"/>
                  <a:pt x="7524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86C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910281" y="2076929"/>
            <a:ext cx="857250" cy="2286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66391" y="2449833"/>
            <a:ext cx="3379470" cy="883920"/>
          </a:xfrm>
          <a:custGeom>
            <a:avLst/>
            <a:gdLst/>
            <a:ahLst/>
            <a:cxnLst/>
            <a:rect l="l" t="t" r="r" b="b"/>
            <a:pathLst>
              <a:path w="3379470" h="883920">
                <a:moveTo>
                  <a:pt x="76203" y="0"/>
                </a:moveTo>
                <a:lnTo>
                  <a:pt x="3303267" y="0"/>
                </a:lnTo>
                <a:cubicBezTo>
                  <a:pt x="3345353" y="0"/>
                  <a:pt x="3379470" y="34117"/>
                  <a:pt x="3379470" y="76203"/>
                </a:cubicBezTo>
                <a:lnTo>
                  <a:pt x="3379470" y="807717"/>
                </a:lnTo>
                <a:cubicBezTo>
                  <a:pt x="3379470" y="849803"/>
                  <a:pt x="3345353" y="883920"/>
                  <a:pt x="33032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2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46400" y="2529841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46400" y="2796541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Classifies products into risk categories based on stock levels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66391" y="3417569"/>
            <a:ext cx="3379470" cy="1188720"/>
          </a:xfrm>
          <a:custGeom>
            <a:avLst/>
            <a:gdLst/>
            <a:ahLst/>
            <a:cxnLst/>
            <a:rect l="l" t="t" r="r" b="b"/>
            <a:pathLst>
              <a:path w="3379470" h="1188720">
                <a:moveTo>
                  <a:pt x="76197" y="0"/>
                </a:moveTo>
                <a:lnTo>
                  <a:pt x="3303273" y="0"/>
                </a:lnTo>
                <a:cubicBezTo>
                  <a:pt x="3345355" y="0"/>
                  <a:pt x="3379470" y="34115"/>
                  <a:pt x="3379470" y="76197"/>
                </a:cubicBezTo>
                <a:lnTo>
                  <a:pt x="3379470" y="1112523"/>
                </a:lnTo>
                <a:cubicBezTo>
                  <a:pt x="3379470" y="1154605"/>
                  <a:pt x="3345355" y="1188720"/>
                  <a:pt x="3303273" y="1188720"/>
                </a:cubicBezTo>
                <a:lnTo>
                  <a:pt x="76197" y="1188720"/>
                </a:lnTo>
                <a:cubicBezTo>
                  <a:pt x="34115" y="1188720"/>
                  <a:pt x="0" y="1154605"/>
                  <a:pt x="0" y="11125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46400" y="3497582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73785" y="380238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8" name="Text 56"/>
          <p:cNvSpPr/>
          <p:nvPr/>
        </p:nvSpPr>
        <p:spPr>
          <a:xfrm>
            <a:off x="8589288" y="3764282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Logic-only classification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73785" y="406908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60" name="Text 58"/>
          <p:cNvSpPr/>
          <p:nvPr/>
        </p:nvSpPr>
        <p:spPr>
          <a:xfrm>
            <a:off x="8589288" y="4030982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all items in batch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73785" y="433578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62" name="Text 60"/>
          <p:cNvSpPr/>
          <p:nvPr/>
        </p:nvSpPr>
        <p:spPr>
          <a:xfrm>
            <a:off x="8589288" y="4297682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risk status in database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66391" y="5109210"/>
            <a:ext cx="3379470" cy="617220"/>
          </a:xfrm>
          <a:custGeom>
            <a:avLst/>
            <a:gdLst/>
            <a:ahLst/>
            <a:cxnLst/>
            <a:rect l="l" t="t" r="r" b="b"/>
            <a:pathLst>
              <a:path w="3379470" h="617220">
                <a:moveTo>
                  <a:pt x="76202" y="0"/>
                </a:moveTo>
                <a:lnTo>
                  <a:pt x="3303268" y="0"/>
                </a:lnTo>
                <a:cubicBezTo>
                  <a:pt x="3345353" y="0"/>
                  <a:pt x="3379470" y="34117"/>
                  <a:pt x="3379470" y="76202"/>
                </a:cubicBezTo>
                <a:lnTo>
                  <a:pt x="3379470" y="541018"/>
                </a:lnTo>
                <a:cubicBezTo>
                  <a:pt x="3379470" y="583103"/>
                  <a:pt x="3345353" y="617220"/>
                  <a:pt x="3303268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46400" y="5189223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Classification logic complete; recalculation planned for later phase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84810" y="6008369"/>
            <a:ext cx="11418570" cy="464820"/>
          </a:xfrm>
          <a:custGeom>
            <a:avLst/>
            <a:gdLst/>
            <a:ahLst/>
            <a:cxnLst/>
            <a:rect l="l" t="t" r="r" b="b"/>
            <a:pathLst>
              <a:path w="11418570" h="464820">
                <a:moveTo>
                  <a:pt x="76198" y="0"/>
                </a:moveTo>
                <a:lnTo>
                  <a:pt x="11342372" y="0"/>
                </a:lnTo>
                <a:cubicBezTo>
                  <a:pt x="11384455" y="0"/>
                  <a:pt x="11418570" y="34115"/>
                  <a:pt x="11418570" y="76198"/>
                </a:cubicBezTo>
                <a:lnTo>
                  <a:pt x="11418570" y="388622"/>
                </a:lnTo>
                <a:cubicBezTo>
                  <a:pt x="11418570" y="430705"/>
                  <a:pt x="11384455" y="464820"/>
                  <a:pt x="11342372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A5A78">
              <a:alpha val="14902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4820" y="6126482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Principle: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workflow is modular and handles a specific function, enabling independent development, testing, and maintenance.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12573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Anticipated benefits upon project completion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718310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988815"/>
                </a:lnTo>
                <a:cubicBezTo>
                  <a:pt x="5608320" y="2051944"/>
                  <a:pt x="5557144" y="2103120"/>
                  <a:pt x="54940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9126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650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9" name="Text 7"/>
          <p:cNvSpPr/>
          <p:nvPr/>
        </p:nvSpPr>
        <p:spPr>
          <a:xfrm>
            <a:off x="1264920" y="2026918"/>
            <a:ext cx="2838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Decision-Making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560318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owners will have access to data-driven insights for inventory and supplier decisions, reducing reliance on intuition and memory.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3169918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93420" y="3284218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informed reorder timing and quantity decisions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3981456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988815"/>
                </a:lnTo>
                <a:cubicBezTo>
                  <a:pt x="5608320" y="2051944"/>
                  <a:pt x="5557144" y="2103120"/>
                  <a:pt x="54940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9120" y="417576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32816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6" name="Text 14"/>
          <p:cNvSpPr/>
          <p:nvPr/>
        </p:nvSpPr>
        <p:spPr>
          <a:xfrm>
            <a:off x="1264920" y="4290064"/>
            <a:ext cx="2419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Manual Effort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120" y="4823464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of routine inventory monitoring tasks will free up time for store owners to focus on customer service and business growth.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5433064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3420" y="5547364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Significant reduction in time spent on manual stock checks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5060" y="1718310"/>
            <a:ext cx="5608320" cy="2122170"/>
          </a:xfrm>
          <a:custGeom>
            <a:avLst/>
            <a:gdLst/>
            <a:ahLst/>
            <a:cxnLst/>
            <a:rect l="l" t="t" r="r" b="b"/>
            <a:pathLst>
              <a:path w="5608320" h="2122170">
                <a:moveTo>
                  <a:pt x="114300" y="0"/>
                </a:moveTo>
                <a:lnTo>
                  <a:pt x="5494020" y="0"/>
                </a:lnTo>
                <a:cubicBezTo>
                  <a:pt x="5557146" y="0"/>
                  <a:pt x="5608320" y="51174"/>
                  <a:pt x="5608320" y="114300"/>
                </a:cubicBezTo>
                <a:lnTo>
                  <a:pt x="5608320" y="2007870"/>
                </a:lnTo>
                <a:cubicBezTo>
                  <a:pt x="5608320" y="2070954"/>
                  <a:pt x="5557104" y="2122170"/>
                  <a:pt x="5494020" y="2122170"/>
                </a:cubicBezTo>
                <a:lnTo>
                  <a:pt x="114300" y="2122170"/>
                </a:lnTo>
                <a:cubicBezTo>
                  <a:pt x="51174" y="2122170"/>
                  <a:pt x="0" y="2070996"/>
                  <a:pt x="0" y="20078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9370" y="19126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41770" y="20650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3" name="Text 21"/>
          <p:cNvSpPr/>
          <p:nvPr/>
        </p:nvSpPr>
        <p:spPr>
          <a:xfrm>
            <a:off x="7075170" y="2026918"/>
            <a:ext cx="249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Risk Visibility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9370" y="2560318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visual indicators and alerts will help identify at-risk products before stockouts occur, enabling proactive inventory management.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3180" y="3173728"/>
            <a:ext cx="5217795" cy="464820"/>
          </a:xfrm>
          <a:custGeom>
            <a:avLst/>
            <a:gdLst/>
            <a:ahLst/>
            <a:cxnLst/>
            <a:rect l="l" t="t" r="r" b="b"/>
            <a:pathLst>
              <a:path w="5217795" h="464820">
                <a:moveTo>
                  <a:pt x="76198" y="0"/>
                </a:moveTo>
                <a:lnTo>
                  <a:pt x="5141597" y="0"/>
                </a:lnTo>
                <a:cubicBezTo>
                  <a:pt x="5183680" y="0"/>
                  <a:pt x="5217795" y="34115"/>
                  <a:pt x="5217795" y="76198"/>
                </a:cubicBezTo>
                <a:lnTo>
                  <a:pt x="5217795" y="388622"/>
                </a:lnTo>
                <a:cubicBezTo>
                  <a:pt x="5217795" y="430705"/>
                  <a:pt x="5183680" y="464820"/>
                  <a:pt x="5141597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1290" y="3291846"/>
            <a:ext cx="505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Early warning system for potential stock issues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5060" y="3996692"/>
            <a:ext cx="5608320" cy="2103120"/>
          </a:xfrm>
          <a:custGeom>
            <a:avLst/>
            <a:gdLst/>
            <a:ahLst/>
            <a:cxnLst/>
            <a:rect l="l" t="t" r="r" b="b"/>
            <a:pathLst>
              <a:path w="5608320" h="210312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988815"/>
                </a:lnTo>
                <a:cubicBezTo>
                  <a:pt x="5608320" y="2051944"/>
                  <a:pt x="5557144" y="2103120"/>
                  <a:pt x="5494015" y="2103120"/>
                </a:cubicBezTo>
                <a:lnTo>
                  <a:pt x="114305" y="2103120"/>
                </a:lnTo>
                <a:cubicBezTo>
                  <a:pt x="51176" y="2103120"/>
                  <a:pt x="0" y="2051944"/>
                  <a:pt x="0" y="19888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3A5A78">
              <a:alpha val="14902"/>
            </a:srgbClr>
          </a:solidFill>
          <a:ln w="1016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89370" y="419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A5A78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27482" y="4343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57163" y="14288"/>
                </a:lnTo>
                <a:cubicBezTo>
                  <a:pt x="172923" y="14288"/>
                  <a:pt x="185738" y="27102"/>
                  <a:pt x="185738" y="42863"/>
                </a:cubicBezTo>
                <a:lnTo>
                  <a:pt x="185738" y="57150"/>
                </a:lnTo>
                <a:lnTo>
                  <a:pt x="208374" y="57150"/>
                </a:lnTo>
                <a:cubicBezTo>
                  <a:pt x="215964" y="57150"/>
                  <a:pt x="223242" y="60141"/>
                  <a:pt x="228600" y="65499"/>
                </a:cubicBezTo>
                <a:lnTo>
                  <a:pt x="248826" y="85725"/>
                </a:lnTo>
                <a:cubicBezTo>
                  <a:pt x="254184" y="91083"/>
                  <a:pt x="257175" y="98361"/>
                  <a:pt x="257175" y="105951"/>
                </a:cubicBezTo>
                <a:lnTo>
                  <a:pt x="257175" y="171450"/>
                </a:lnTo>
                <a:cubicBezTo>
                  <a:pt x="257175" y="187211"/>
                  <a:pt x="244361" y="200025"/>
                  <a:pt x="228600" y="200025"/>
                </a:cubicBezTo>
                <a:lnTo>
                  <a:pt x="227127" y="200025"/>
                </a:lnTo>
                <a:cubicBezTo>
                  <a:pt x="222483" y="216500"/>
                  <a:pt x="207303" y="228600"/>
                  <a:pt x="189309" y="228600"/>
                </a:cubicBezTo>
                <a:cubicBezTo>
                  <a:pt x="171316" y="228600"/>
                  <a:pt x="156180" y="216500"/>
                  <a:pt x="151492" y="200025"/>
                </a:cubicBezTo>
                <a:lnTo>
                  <a:pt x="105683" y="200025"/>
                </a:lnTo>
                <a:cubicBezTo>
                  <a:pt x="101039" y="216500"/>
                  <a:pt x="85859" y="228600"/>
                  <a:pt x="67866" y="228600"/>
                </a:cubicBezTo>
                <a:cubicBezTo>
                  <a:pt x="49872" y="228600"/>
                  <a:pt x="34736" y="216500"/>
                  <a:pt x="30048" y="200025"/>
                </a:cubicBezTo>
                <a:lnTo>
                  <a:pt x="28575" y="200025"/>
                </a:lnTo>
                <a:cubicBezTo>
                  <a:pt x="12814" y="200025"/>
                  <a:pt x="0" y="187211"/>
                  <a:pt x="0" y="171450"/>
                </a:cubicBezTo>
                <a:lnTo>
                  <a:pt x="0" y="42863"/>
                </a:lnTo>
                <a:close/>
                <a:moveTo>
                  <a:pt x="228600" y="128588"/>
                </a:moveTo>
                <a:lnTo>
                  <a:pt x="228600" y="105951"/>
                </a:lnTo>
                <a:lnTo>
                  <a:pt x="208374" y="85725"/>
                </a:lnTo>
                <a:lnTo>
                  <a:pt x="185738" y="85725"/>
                </a:lnTo>
                <a:lnTo>
                  <a:pt x="185738" y="128588"/>
                </a:lnTo>
                <a:lnTo>
                  <a:pt x="228600" y="128588"/>
                </a:lnTo>
                <a:close/>
                <a:moveTo>
                  <a:pt x="85725" y="189309"/>
                </a:moveTo>
                <a:cubicBezTo>
                  <a:pt x="85725" y="179453"/>
                  <a:pt x="77722" y="171450"/>
                  <a:pt x="67866" y="171450"/>
                </a:cubicBezTo>
                <a:cubicBezTo>
                  <a:pt x="58009" y="171450"/>
                  <a:pt x="50006" y="179453"/>
                  <a:pt x="50006" y="189309"/>
                </a:cubicBezTo>
                <a:cubicBezTo>
                  <a:pt x="50006" y="199166"/>
                  <a:pt x="58009" y="207169"/>
                  <a:pt x="67866" y="207169"/>
                </a:cubicBezTo>
                <a:cubicBezTo>
                  <a:pt x="77722" y="207169"/>
                  <a:pt x="85725" y="199166"/>
                  <a:pt x="85725" y="189309"/>
                </a:cubicBezTo>
                <a:close/>
                <a:moveTo>
                  <a:pt x="189309" y="207169"/>
                </a:moveTo>
                <a:cubicBezTo>
                  <a:pt x="199166" y="207169"/>
                  <a:pt x="207169" y="199166"/>
                  <a:pt x="207169" y="189309"/>
                </a:cubicBezTo>
                <a:cubicBezTo>
                  <a:pt x="207169" y="179453"/>
                  <a:pt x="199166" y="171450"/>
                  <a:pt x="189309" y="171450"/>
                </a:cubicBezTo>
                <a:cubicBezTo>
                  <a:pt x="179453" y="171450"/>
                  <a:pt x="171450" y="179453"/>
                  <a:pt x="171450" y="189309"/>
                </a:cubicBezTo>
                <a:cubicBezTo>
                  <a:pt x="171450" y="199166"/>
                  <a:pt x="179453" y="207169"/>
                  <a:pt x="189309" y="207169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0" name="Text 28"/>
          <p:cNvSpPr/>
          <p:nvPr/>
        </p:nvSpPr>
        <p:spPr>
          <a:xfrm>
            <a:off x="7075170" y="4305300"/>
            <a:ext cx="260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Supplier Selection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89370" y="48387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comparison of suppliers based on multiple criteria will enable more strategic vendor relationships and cost optimization.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9370" y="544830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03670" y="55626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Expected: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Data-driven supplier evaluation and selection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810" y="6259828"/>
            <a:ext cx="11418570" cy="541020"/>
          </a:xfrm>
          <a:custGeom>
            <a:avLst/>
            <a:gdLst/>
            <a:ahLst/>
            <a:cxnLst/>
            <a:rect l="l" t="t" r="r" b="b"/>
            <a:pathLst>
              <a:path w="11418570" h="541020">
                <a:moveTo>
                  <a:pt x="76203" y="0"/>
                </a:moveTo>
                <a:lnTo>
                  <a:pt x="11342367" y="0"/>
                </a:lnTo>
                <a:cubicBezTo>
                  <a:pt x="11384453" y="0"/>
                  <a:pt x="11418570" y="34117"/>
                  <a:pt x="11418570" y="76203"/>
                </a:cubicBezTo>
                <a:lnTo>
                  <a:pt x="11418570" y="464817"/>
                </a:lnTo>
                <a:cubicBezTo>
                  <a:pt x="11418570" y="506903"/>
                  <a:pt x="11384453" y="541020"/>
                  <a:pt x="11342367" y="541020"/>
                </a:cubicBezTo>
                <a:lnTo>
                  <a:pt x="76203" y="541020"/>
                </a:lnTo>
                <a:cubicBezTo>
                  <a:pt x="34117" y="541020"/>
                  <a:pt x="0" y="506903"/>
                  <a:pt x="0" y="4648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16046"/>
            <a:ext cx="1118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Goal: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working prototype demonstrating the feasibility of AI-assisted, workflow-driven inventory management for small retail businesses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050" y="137548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70458" y="328148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Plan &amp;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3742" y="744624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63" name="Shape 61"/>
          <p:cNvSpPr/>
          <p:nvPr/>
        </p:nvSpPr>
        <p:spPr>
          <a:xfrm>
            <a:off x="8538171" y="1114425"/>
            <a:ext cx="3332162" cy="2733673"/>
          </a:xfrm>
          <a:custGeom>
            <a:avLst/>
            <a:gdLst/>
            <a:ahLst/>
            <a:cxnLst/>
            <a:rect l="l" t="t" r="r" b="b"/>
            <a:pathLst>
              <a:path w="3332162" h="4387850">
                <a:moveTo>
                  <a:pt x="95267" y="0"/>
                </a:moveTo>
                <a:lnTo>
                  <a:pt x="3236896" y="0"/>
                </a:lnTo>
                <a:cubicBezTo>
                  <a:pt x="3289510" y="0"/>
                  <a:pt x="3332162" y="42652"/>
                  <a:pt x="3332162" y="95267"/>
                </a:cubicBezTo>
                <a:lnTo>
                  <a:pt x="3332162" y="4292583"/>
                </a:lnTo>
                <a:cubicBezTo>
                  <a:pt x="3332162" y="4345198"/>
                  <a:pt x="3289510" y="4387850"/>
                  <a:pt x="3236896" y="4387850"/>
                </a:cubicBezTo>
                <a:lnTo>
                  <a:pt x="95267" y="4387850"/>
                </a:lnTo>
                <a:cubicBezTo>
                  <a:pt x="42652" y="4387850"/>
                  <a:pt x="0" y="4345198"/>
                  <a:pt x="0" y="4292583"/>
                </a:cubicBezTo>
                <a:lnTo>
                  <a:pt x="0" y="95267"/>
                </a:lnTo>
                <a:cubicBezTo>
                  <a:pt x="0" y="42687"/>
                  <a:pt x="42687" y="0"/>
                  <a:pt x="95267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68346" y="1244598"/>
            <a:ext cx="3143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671521" y="1565273"/>
            <a:ext cx="3070225" cy="546100"/>
          </a:xfrm>
          <a:custGeom>
            <a:avLst/>
            <a:gdLst/>
            <a:ahLst/>
            <a:cxnLst/>
            <a:rect l="l" t="t" r="r" b="b"/>
            <a:pathLst>
              <a:path w="3070225" h="546100">
                <a:moveTo>
                  <a:pt x="63501" y="0"/>
                </a:moveTo>
                <a:lnTo>
                  <a:pt x="3006724" y="0"/>
                </a:lnTo>
                <a:cubicBezTo>
                  <a:pt x="3041795" y="0"/>
                  <a:pt x="3070225" y="28430"/>
                  <a:pt x="3070225" y="63501"/>
                </a:cubicBezTo>
                <a:lnTo>
                  <a:pt x="3070225" y="482599"/>
                </a:lnTo>
                <a:cubicBezTo>
                  <a:pt x="3070225" y="517670"/>
                  <a:pt x="3041795" y="546100"/>
                  <a:pt x="3006724" y="546100"/>
                </a:cubicBezTo>
                <a:lnTo>
                  <a:pt x="63501" y="546100"/>
                </a:lnTo>
                <a:cubicBezTo>
                  <a:pt x="28430" y="546100"/>
                  <a:pt x="0" y="517670"/>
                  <a:pt x="0" y="4825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C9A86C">
              <a:alpha val="14902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8195" y="1631955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1 (Week 2)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738195" y="1854205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workflows and database setup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671521" y="2181228"/>
            <a:ext cx="3070225" cy="546100"/>
          </a:xfrm>
          <a:custGeom>
            <a:avLst/>
            <a:gdLst/>
            <a:ahLst/>
            <a:cxnLst/>
            <a:rect l="l" t="t" r="r" b="b"/>
            <a:pathLst>
              <a:path w="3070225" h="546100">
                <a:moveTo>
                  <a:pt x="63501" y="0"/>
                </a:moveTo>
                <a:lnTo>
                  <a:pt x="3006724" y="0"/>
                </a:lnTo>
                <a:cubicBezTo>
                  <a:pt x="3041795" y="0"/>
                  <a:pt x="3070225" y="28430"/>
                  <a:pt x="3070225" y="63501"/>
                </a:cubicBezTo>
                <a:lnTo>
                  <a:pt x="3070225" y="482599"/>
                </a:lnTo>
                <a:cubicBezTo>
                  <a:pt x="3070225" y="517670"/>
                  <a:pt x="3041795" y="546100"/>
                  <a:pt x="3006724" y="546100"/>
                </a:cubicBezTo>
                <a:lnTo>
                  <a:pt x="63501" y="546100"/>
                </a:lnTo>
                <a:cubicBezTo>
                  <a:pt x="28430" y="546100"/>
                  <a:pt x="0" y="517670"/>
                  <a:pt x="0" y="4825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C9A86C">
              <a:alpha val="14902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38195" y="2247902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2 (Week 9)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738195" y="2470152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system integration demo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671521" y="2797175"/>
            <a:ext cx="3070225" cy="546100"/>
          </a:xfrm>
          <a:custGeom>
            <a:avLst/>
            <a:gdLst/>
            <a:ahLst/>
            <a:cxnLst/>
            <a:rect l="l" t="t" r="r" b="b"/>
            <a:pathLst>
              <a:path w="3070225" h="546100">
                <a:moveTo>
                  <a:pt x="63501" y="0"/>
                </a:moveTo>
                <a:lnTo>
                  <a:pt x="3006724" y="0"/>
                </a:lnTo>
                <a:cubicBezTo>
                  <a:pt x="3041795" y="0"/>
                  <a:pt x="3070225" y="28430"/>
                  <a:pt x="3070225" y="63501"/>
                </a:cubicBezTo>
                <a:lnTo>
                  <a:pt x="3070225" y="482599"/>
                </a:lnTo>
                <a:cubicBezTo>
                  <a:pt x="3070225" y="517670"/>
                  <a:pt x="3041795" y="546100"/>
                  <a:pt x="3006724" y="546100"/>
                </a:cubicBezTo>
                <a:lnTo>
                  <a:pt x="63501" y="546100"/>
                </a:lnTo>
                <a:cubicBezTo>
                  <a:pt x="28430" y="546100"/>
                  <a:pt x="0" y="517670"/>
                  <a:pt x="0" y="4825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C9A86C">
              <a:alpha val="14902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738195" y="2863848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Review (Week 16)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738195" y="3086098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>
                    <a:alpha val="7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system and documentation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479434" y="3968750"/>
            <a:ext cx="3332162" cy="1593850"/>
          </a:xfrm>
          <a:custGeom>
            <a:avLst/>
            <a:gdLst/>
            <a:ahLst/>
            <a:cxnLst/>
            <a:rect l="l" t="t" r="r" b="b"/>
            <a:pathLst>
              <a:path w="3332162" h="1593850">
                <a:moveTo>
                  <a:pt x="95248" y="0"/>
                </a:moveTo>
                <a:lnTo>
                  <a:pt x="3236914" y="0"/>
                </a:lnTo>
                <a:cubicBezTo>
                  <a:pt x="3289518" y="0"/>
                  <a:pt x="3332162" y="42644"/>
                  <a:pt x="3332162" y="95248"/>
                </a:cubicBezTo>
                <a:lnTo>
                  <a:pt x="3332162" y="1498602"/>
                </a:lnTo>
                <a:cubicBezTo>
                  <a:pt x="3332163" y="1551206"/>
                  <a:pt x="3289518" y="1593850"/>
                  <a:pt x="3236914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541147" y="3990973"/>
            <a:ext cx="3143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Status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541147" y="4276723"/>
            <a:ext cx="3071813" cy="317500"/>
          </a:xfrm>
          <a:custGeom>
            <a:avLst/>
            <a:gdLst/>
            <a:ahLst/>
            <a:cxnLst/>
            <a:rect l="l" t="t" r="r" b="b"/>
            <a:pathLst>
              <a:path w="3071813" h="317500">
                <a:moveTo>
                  <a:pt x="63500" y="0"/>
                </a:moveTo>
                <a:lnTo>
                  <a:pt x="3008313" y="0"/>
                </a:lnTo>
                <a:cubicBezTo>
                  <a:pt x="3043359" y="0"/>
                  <a:pt x="3071813" y="28453"/>
                  <a:pt x="3071813" y="63500"/>
                </a:cubicBezTo>
                <a:lnTo>
                  <a:pt x="3071813" y="254000"/>
                </a:lnTo>
                <a:cubicBezTo>
                  <a:pt x="3071813" y="289047"/>
                  <a:pt x="3043359" y="317500"/>
                  <a:pt x="300831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604647" y="4340223"/>
            <a:ext cx="38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485761" y="4340223"/>
            <a:ext cx="12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604647" y="4705348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837465" y="4705348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Workflows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505066" y="5661031"/>
            <a:ext cx="3071813" cy="317500"/>
          </a:xfrm>
          <a:custGeom>
            <a:avLst/>
            <a:gdLst/>
            <a:ahLst/>
            <a:cxnLst/>
            <a:rect l="l" t="t" r="r" b="b"/>
            <a:pathLst>
              <a:path w="3071813" h="317500">
                <a:moveTo>
                  <a:pt x="63500" y="0"/>
                </a:moveTo>
                <a:lnTo>
                  <a:pt x="3008313" y="0"/>
                </a:lnTo>
                <a:cubicBezTo>
                  <a:pt x="3043359" y="0"/>
                  <a:pt x="3071813" y="28453"/>
                  <a:pt x="3071813" y="63500"/>
                </a:cubicBezTo>
                <a:lnTo>
                  <a:pt x="3071813" y="254000"/>
                </a:lnTo>
                <a:cubicBezTo>
                  <a:pt x="3071813" y="289047"/>
                  <a:pt x="3043359" y="317500"/>
                  <a:pt x="3008313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8671521" y="5710700"/>
            <a:ext cx="57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1042650" y="5705473"/>
            <a:ext cx="40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</a:t>
            </a:r>
            <a:endParaRPr lang="en-US" sz="1600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E1FB1919-D166-39AE-1A5F-211B981A1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817505"/>
              </p:ext>
            </p:extLst>
          </p:nvPr>
        </p:nvGraphicFramePr>
        <p:xfrm>
          <a:off x="179294" y="1339039"/>
          <a:ext cx="7593108" cy="500544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896999">
                  <a:extLst>
                    <a:ext uri="{9D8B030D-6E8A-4147-A177-3AD203B41FA5}">
                      <a16:colId xmlns:a16="http://schemas.microsoft.com/office/drawing/2014/main" val="4065633415"/>
                    </a:ext>
                  </a:extLst>
                </a:gridCol>
                <a:gridCol w="1898703">
                  <a:extLst>
                    <a:ext uri="{9D8B030D-6E8A-4147-A177-3AD203B41FA5}">
                      <a16:colId xmlns:a16="http://schemas.microsoft.com/office/drawing/2014/main" val="2631270628"/>
                    </a:ext>
                  </a:extLst>
                </a:gridCol>
                <a:gridCol w="1898703">
                  <a:extLst>
                    <a:ext uri="{9D8B030D-6E8A-4147-A177-3AD203B41FA5}">
                      <a16:colId xmlns:a16="http://schemas.microsoft.com/office/drawing/2014/main" val="71453890"/>
                    </a:ext>
                  </a:extLst>
                </a:gridCol>
                <a:gridCol w="1898703">
                  <a:extLst>
                    <a:ext uri="{9D8B030D-6E8A-4147-A177-3AD203B41FA5}">
                      <a16:colId xmlns:a16="http://schemas.microsoft.com/office/drawing/2014/main" val="3303972249"/>
                    </a:ext>
                  </a:extLst>
                </a:gridCol>
              </a:tblGrid>
              <a:tr h="525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Planned Activities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Status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143398697"/>
                  </a:ext>
                </a:extLst>
              </a:tr>
              <a:tr h="48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definition, objectives, scope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709700031"/>
                  </a:ext>
                </a:extLst>
              </a:tr>
              <a:tr h="48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setup and basic workflows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Completed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979436154"/>
                  </a:ext>
                </a:extLst>
              </a:tr>
              <a:tr h="48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3–4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workflows &amp; data handling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568389085"/>
                  </a:ext>
                </a:extLst>
              </a:tr>
              <a:tr h="48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5–6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inventory logic improvements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257845567"/>
                  </a:ext>
                </a:extLst>
              </a:tr>
              <a:tr h="48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5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7–8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&amp; frontend integration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598173400"/>
                  </a:ext>
                </a:extLst>
              </a:tr>
              <a:tr h="48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6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9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system integration (Review-2)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467866736"/>
                  </a:ext>
                </a:extLst>
              </a:tr>
              <a:tr h="275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7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10–11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AI-assisted features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603869649"/>
                  </a:ext>
                </a:extLst>
              </a:tr>
              <a:tr h="48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8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12–13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analysis enhancements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160171272"/>
                  </a:ext>
                </a:extLst>
              </a:tr>
              <a:tr h="275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9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14–15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validation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673461619"/>
                  </a:ext>
                </a:extLst>
              </a:tr>
              <a:tr h="48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10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16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documentation &amp; demo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⏳ Planned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2767792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11525321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kern="0" spc="50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303" y="621016"/>
            <a:ext cx="1162578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Next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303" y="1095910"/>
            <a:ext cx="730607" cy="36530"/>
          </a:xfrm>
          <a:custGeom>
            <a:avLst/>
            <a:gdLst/>
            <a:ahLst/>
            <a:cxnLst/>
            <a:rect l="l" t="t" r="r" b="b"/>
            <a:pathLst>
              <a:path w="730607" h="36530">
                <a:moveTo>
                  <a:pt x="0" y="0"/>
                </a:moveTo>
                <a:lnTo>
                  <a:pt x="730607" y="0"/>
                </a:lnTo>
                <a:lnTo>
                  <a:pt x="730607" y="36530"/>
                </a:lnTo>
                <a:lnTo>
                  <a:pt x="0" y="36530"/>
                </a:lnTo>
                <a:lnTo>
                  <a:pt x="0" y="0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5" name="Shape 3"/>
          <p:cNvSpPr/>
          <p:nvPr/>
        </p:nvSpPr>
        <p:spPr>
          <a:xfrm>
            <a:off x="368956" y="1318745"/>
            <a:ext cx="5614713" cy="3952582"/>
          </a:xfrm>
          <a:custGeom>
            <a:avLst/>
            <a:gdLst/>
            <a:ahLst/>
            <a:cxnLst/>
            <a:rect l="l" t="t" r="r" b="b"/>
            <a:pathLst>
              <a:path w="5614713" h="3952582">
                <a:moveTo>
                  <a:pt x="109605" y="0"/>
                </a:moveTo>
                <a:lnTo>
                  <a:pt x="5505108" y="0"/>
                </a:lnTo>
                <a:cubicBezTo>
                  <a:pt x="5565641" y="0"/>
                  <a:pt x="5614713" y="49072"/>
                  <a:pt x="5614713" y="109605"/>
                </a:cubicBezTo>
                <a:lnTo>
                  <a:pt x="5614713" y="3842977"/>
                </a:lnTo>
                <a:cubicBezTo>
                  <a:pt x="5614713" y="3903511"/>
                  <a:pt x="5565641" y="3952582"/>
                  <a:pt x="5505108" y="3952582"/>
                </a:cubicBezTo>
                <a:lnTo>
                  <a:pt x="109605" y="3952582"/>
                </a:lnTo>
                <a:cubicBezTo>
                  <a:pt x="49072" y="3952582"/>
                  <a:pt x="0" y="3903511"/>
                  <a:pt x="0" y="3842977"/>
                </a:cubicBezTo>
                <a:lnTo>
                  <a:pt x="0" y="109605"/>
                </a:lnTo>
                <a:cubicBezTo>
                  <a:pt x="0" y="49112"/>
                  <a:pt x="49112" y="0"/>
                  <a:pt x="109605" y="0"/>
                </a:cubicBezTo>
                <a:close/>
              </a:path>
            </a:pathLst>
          </a:custGeom>
          <a:solidFill>
            <a:srgbClr val="3A5A78">
              <a:alpha val="10196"/>
            </a:srgbClr>
          </a:solidFill>
          <a:ln w="1016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5261" y="1505048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109591" y="0"/>
                </a:moveTo>
                <a:lnTo>
                  <a:pt x="328773" y="0"/>
                </a:lnTo>
                <a:cubicBezTo>
                  <a:pt x="389258" y="0"/>
                  <a:pt x="438364" y="49106"/>
                  <a:pt x="438364" y="109591"/>
                </a:cubicBezTo>
                <a:lnTo>
                  <a:pt x="438364" y="328773"/>
                </a:lnTo>
                <a:cubicBezTo>
                  <a:pt x="438364" y="389258"/>
                  <a:pt x="389258" y="438364"/>
                  <a:pt x="328773" y="438364"/>
                </a:cubicBezTo>
                <a:lnTo>
                  <a:pt x="109591" y="438364"/>
                </a:lnTo>
                <a:cubicBezTo>
                  <a:pt x="49106" y="438364"/>
                  <a:pt x="0" y="389258"/>
                  <a:pt x="0" y="328773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3A5A78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3117" y="1632904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91326" y="182652"/>
                </a:moveTo>
                <a:cubicBezTo>
                  <a:pt x="141730" y="182652"/>
                  <a:pt x="182652" y="141730"/>
                  <a:pt x="182652" y="91326"/>
                </a:cubicBezTo>
                <a:cubicBezTo>
                  <a:pt x="182652" y="40922"/>
                  <a:pt x="141730" y="0"/>
                  <a:pt x="91326" y="0"/>
                </a:cubicBezTo>
                <a:cubicBezTo>
                  <a:pt x="40922" y="0"/>
                  <a:pt x="0" y="40922"/>
                  <a:pt x="0" y="91326"/>
                </a:cubicBezTo>
                <a:cubicBezTo>
                  <a:pt x="0" y="141730"/>
                  <a:pt x="40922" y="182652"/>
                  <a:pt x="91326" y="182652"/>
                </a:cubicBezTo>
                <a:close/>
                <a:moveTo>
                  <a:pt x="121435" y="75879"/>
                </a:moveTo>
                <a:lnTo>
                  <a:pt x="92896" y="121542"/>
                </a:lnTo>
                <a:cubicBezTo>
                  <a:pt x="91397" y="123932"/>
                  <a:pt x="88829" y="125430"/>
                  <a:pt x="86010" y="125573"/>
                </a:cubicBezTo>
                <a:cubicBezTo>
                  <a:pt x="83192" y="125716"/>
                  <a:pt x="80481" y="124431"/>
                  <a:pt x="78804" y="122148"/>
                </a:cubicBezTo>
                <a:lnTo>
                  <a:pt x="61681" y="99317"/>
                </a:lnTo>
                <a:cubicBezTo>
                  <a:pt x="58827" y="95535"/>
                  <a:pt x="59612" y="90184"/>
                  <a:pt x="63393" y="87330"/>
                </a:cubicBezTo>
                <a:cubicBezTo>
                  <a:pt x="67174" y="84476"/>
                  <a:pt x="72526" y="85261"/>
                  <a:pt x="75379" y="89043"/>
                </a:cubicBezTo>
                <a:lnTo>
                  <a:pt x="85012" y="101885"/>
                </a:lnTo>
                <a:lnTo>
                  <a:pt x="106915" y="66818"/>
                </a:lnTo>
                <a:cubicBezTo>
                  <a:pt x="109413" y="62822"/>
                  <a:pt x="114692" y="61574"/>
                  <a:pt x="118724" y="64106"/>
                </a:cubicBezTo>
                <a:cubicBezTo>
                  <a:pt x="122755" y="66639"/>
                  <a:pt x="123968" y="71883"/>
                  <a:pt x="121435" y="75915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8" name="Text 6"/>
          <p:cNvSpPr/>
          <p:nvPr/>
        </p:nvSpPr>
        <p:spPr>
          <a:xfrm>
            <a:off x="1103216" y="1578109"/>
            <a:ext cx="1388153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Done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5261" y="2089533"/>
            <a:ext cx="5242103" cy="694076"/>
          </a:xfrm>
          <a:custGeom>
            <a:avLst/>
            <a:gdLst/>
            <a:ahLst/>
            <a:cxnLst/>
            <a:rect l="l" t="t" r="r" b="b"/>
            <a:pathLst>
              <a:path w="5242103" h="694076">
                <a:moveTo>
                  <a:pt x="73058" y="0"/>
                </a:moveTo>
                <a:lnTo>
                  <a:pt x="5169045" y="0"/>
                </a:lnTo>
                <a:cubicBezTo>
                  <a:pt x="5209394" y="0"/>
                  <a:pt x="5242103" y="32709"/>
                  <a:pt x="5242103" y="73058"/>
                </a:cubicBezTo>
                <a:lnTo>
                  <a:pt x="5242103" y="621018"/>
                </a:lnTo>
                <a:cubicBezTo>
                  <a:pt x="5242103" y="661367"/>
                  <a:pt x="5209394" y="694076"/>
                  <a:pt x="5169045" y="694076"/>
                </a:cubicBezTo>
                <a:lnTo>
                  <a:pt x="73058" y="694076"/>
                </a:lnTo>
                <a:cubicBezTo>
                  <a:pt x="32736" y="694076"/>
                  <a:pt x="0" y="661340"/>
                  <a:pt x="0" y="621018"/>
                </a:cubicBezTo>
                <a:lnTo>
                  <a:pt x="0" y="73058"/>
                </a:lnTo>
                <a:cubicBezTo>
                  <a:pt x="0" y="32709"/>
                  <a:pt x="32709" y="0"/>
                  <a:pt x="73058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4852" y="2235655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73061" y="0"/>
                </a:moveTo>
                <a:lnTo>
                  <a:pt x="219182" y="0"/>
                </a:lnTo>
                <a:cubicBezTo>
                  <a:pt x="259505" y="0"/>
                  <a:pt x="292243" y="32737"/>
                  <a:pt x="292243" y="73061"/>
                </a:cubicBezTo>
                <a:lnTo>
                  <a:pt x="292243" y="219182"/>
                </a:lnTo>
                <a:cubicBezTo>
                  <a:pt x="292243" y="259505"/>
                  <a:pt x="259505" y="292243"/>
                  <a:pt x="219182" y="292243"/>
                </a:cubicBezTo>
                <a:lnTo>
                  <a:pt x="73061" y="292243"/>
                </a:lnTo>
                <a:cubicBezTo>
                  <a:pt x="32737" y="292243"/>
                  <a:pt x="0" y="259505"/>
                  <a:pt x="0" y="219182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7320" y="2317848"/>
            <a:ext cx="111874" cy="127856"/>
          </a:xfrm>
          <a:custGeom>
            <a:avLst/>
            <a:gdLst/>
            <a:ahLst/>
            <a:cxnLst/>
            <a:rect l="l" t="t" r="r" b="b"/>
            <a:pathLst>
              <a:path w="111874" h="127856">
                <a:moveTo>
                  <a:pt x="108578" y="17505"/>
                </a:moveTo>
                <a:cubicBezTo>
                  <a:pt x="112149" y="20102"/>
                  <a:pt x="112948" y="25097"/>
                  <a:pt x="110351" y="28668"/>
                </a:cubicBezTo>
                <a:lnTo>
                  <a:pt x="46423" y="116569"/>
                </a:lnTo>
                <a:cubicBezTo>
                  <a:pt x="45049" y="118467"/>
                  <a:pt x="42927" y="119640"/>
                  <a:pt x="40579" y="119840"/>
                </a:cubicBezTo>
                <a:cubicBezTo>
                  <a:pt x="38232" y="120040"/>
                  <a:pt x="35960" y="119166"/>
                  <a:pt x="34311" y="117518"/>
                </a:cubicBezTo>
                <a:lnTo>
                  <a:pt x="2347" y="85554"/>
                </a:lnTo>
                <a:cubicBezTo>
                  <a:pt x="-774" y="82432"/>
                  <a:pt x="-774" y="77363"/>
                  <a:pt x="2347" y="74241"/>
                </a:cubicBezTo>
                <a:cubicBezTo>
                  <a:pt x="5469" y="71120"/>
                  <a:pt x="10538" y="71120"/>
                  <a:pt x="13660" y="74241"/>
                </a:cubicBezTo>
                <a:lnTo>
                  <a:pt x="39006" y="99588"/>
                </a:lnTo>
                <a:lnTo>
                  <a:pt x="97440" y="19253"/>
                </a:lnTo>
                <a:cubicBezTo>
                  <a:pt x="100037" y="15682"/>
                  <a:pt x="105032" y="14883"/>
                  <a:pt x="108603" y="1748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686" y="2199125"/>
            <a:ext cx="3305996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Definition &amp; Literature Survey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5261" y="2856671"/>
            <a:ext cx="5242103" cy="694076"/>
          </a:xfrm>
          <a:custGeom>
            <a:avLst/>
            <a:gdLst/>
            <a:ahLst/>
            <a:cxnLst/>
            <a:rect l="l" t="t" r="r" b="b"/>
            <a:pathLst>
              <a:path w="5242103" h="694076">
                <a:moveTo>
                  <a:pt x="73058" y="0"/>
                </a:moveTo>
                <a:lnTo>
                  <a:pt x="5169045" y="0"/>
                </a:lnTo>
                <a:cubicBezTo>
                  <a:pt x="5209394" y="0"/>
                  <a:pt x="5242103" y="32709"/>
                  <a:pt x="5242103" y="73058"/>
                </a:cubicBezTo>
                <a:lnTo>
                  <a:pt x="5242103" y="621018"/>
                </a:lnTo>
                <a:cubicBezTo>
                  <a:pt x="5242103" y="661367"/>
                  <a:pt x="5209394" y="694076"/>
                  <a:pt x="5169045" y="694076"/>
                </a:cubicBezTo>
                <a:lnTo>
                  <a:pt x="73058" y="694076"/>
                </a:lnTo>
                <a:cubicBezTo>
                  <a:pt x="32736" y="694076"/>
                  <a:pt x="0" y="661340"/>
                  <a:pt x="0" y="621018"/>
                </a:cubicBezTo>
                <a:lnTo>
                  <a:pt x="0" y="73058"/>
                </a:lnTo>
                <a:cubicBezTo>
                  <a:pt x="0" y="32709"/>
                  <a:pt x="32709" y="0"/>
                  <a:pt x="73058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4852" y="3002792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73061" y="0"/>
                </a:moveTo>
                <a:lnTo>
                  <a:pt x="219182" y="0"/>
                </a:lnTo>
                <a:cubicBezTo>
                  <a:pt x="259505" y="0"/>
                  <a:pt x="292243" y="32737"/>
                  <a:pt x="292243" y="73061"/>
                </a:cubicBezTo>
                <a:lnTo>
                  <a:pt x="292243" y="219182"/>
                </a:lnTo>
                <a:cubicBezTo>
                  <a:pt x="292243" y="259505"/>
                  <a:pt x="259505" y="292243"/>
                  <a:pt x="219182" y="292243"/>
                </a:cubicBezTo>
                <a:lnTo>
                  <a:pt x="73061" y="292243"/>
                </a:lnTo>
                <a:cubicBezTo>
                  <a:pt x="32737" y="292243"/>
                  <a:pt x="0" y="259505"/>
                  <a:pt x="0" y="219182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57320" y="3084985"/>
            <a:ext cx="111874" cy="127856"/>
          </a:xfrm>
          <a:custGeom>
            <a:avLst/>
            <a:gdLst/>
            <a:ahLst/>
            <a:cxnLst/>
            <a:rect l="l" t="t" r="r" b="b"/>
            <a:pathLst>
              <a:path w="111874" h="127856">
                <a:moveTo>
                  <a:pt x="108578" y="17505"/>
                </a:moveTo>
                <a:cubicBezTo>
                  <a:pt x="112149" y="20102"/>
                  <a:pt x="112948" y="25097"/>
                  <a:pt x="110351" y="28668"/>
                </a:cubicBezTo>
                <a:lnTo>
                  <a:pt x="46423" y="116569"/>
                </a:lnTo>
                <a:cubicBezTo>
                  <a:pt x="45049" y="118467"/>
                  <a:pt x="42927" y="119640"/>
                  <a:pt x="40579" y="119840"/>
                </a:cubicBezTo>
                <a:cubicBezTo>
                  <a:pt x="38232" y="120040"/>
                  <a:pt x="35960" y="119166"/>
                  <a:pt x="34311" y="117518"/>
                </a:cubicBezTo>
                <a:lnTo>
                  <a:pt x="2347" y="85554"/>
                </a:lnTo>
                <a:cubicBezTo>
                  <a:pt x="-774" y="82432"/>
                  <a:pt x="-774" y="77363"/>
                  <a:pt x="2347" y="74241"/>
                </a:cubicBezTo>
                <a:cubicBezTo>
                  <a:pt x="5469" y="71120"/>
                  <a:pt x="10538" y="71120"/>
                  <a:pt x="13660" y="74241"/>
                </a:cubicBezTo>
                <a:lnTo>
                  <a:pt x="39006" y="99588"/>
                </a:lnTo>
                <a:lnTo>
                  <a:pt x="97440" y="19253"/>
                </a:lnTo>
                <a:cubicBezTo>
                  <a:pt x="100037" y="15682"/>
                  <a:pt x="105032" y="14883"/>
                  <a:pt x="108603" y="1748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686" y="2966262"/>
            <a:ext cx="3068548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Schema Design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5261" y="3623808"/>
            <a:ext cx="5242103" cy="694076"/>
          </a:xfrm>
          <a:custGeom>
            <a:avLst/>
            <a:gdLst/>
            <a:ahLst/>
            <a:cxnLst/>
            <a:rect l="l" t="t" r="r" b="b"/>
            <a:pathLst>
              <a:path w="5242103" h="694076">
                <a:moveTo>
                  <a:pt x="73058" y="0"/>
                </a:moveTo>
                <a:lnTo>
                  <a:pt x="5169045" y="0"/>
                </a:lnTo>
                <a:cubicBezTo>
                  <a:pt x="5209394" y="0"/>
                  <a:pt x="5242103" y="32709"/>
                  <a:pt x="5242103" y="73058"/>
                </a:cubicBezTo>
                <a:lnTo>
                  <a:pt x="5242103" y="621018"/>
                </a:lnTo>
                <a:cubicBezTo>
                  <a:pt x="5242103" y="661367"/>
                  <a:pt x="5209394" y="694076"/>
                  <a:pt x="5169045" y="694076"/>
                </a:cubicBezTo>
                <a:lnTo>
                  <a:pt x="73058" y="694076"/>
                </a:lnTo>
                <a:cubicBezTo>
                  <a:pt x="32736" y="694076"/>
                  <a:pt x="0" y="661340"/>
                  <a:pt x="0" y="621018"/>
                </a:cubicBezTo>
                <a:lnTo>
                  <a:pt x="0" y="73058"/>
                </a:lnTo>
                <a:cubicBezTo>
                  <a:pt x="0" y="32709"/>
                  <a:pt x="32709" y="0"/>
                  <a:pt x="73058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4852" y="3769929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73061" y="0"/>
                </a:moveTo>
                <a:lnTo>
                  <a:pt x="219182" y="0"/>
                </a:lnTo>
                <a:cubicBezTo>
                  <a:pt x="259505" y="0"/>
                  <a:pt x="292243" y="32737"/>
                  <a:pt x="292243" y="73061"/>
                </a:cubicBezTo>
                <a:lnTo>
                  <a:pt x="292243" y="219182"/>
                </a:lnTo>
                <a:cubicBezTo>
                  <a:pt x="292243" y="259505"/>
                  <a:pt x="259505" y="292243"/>
                  <a:pt x="219182" y="292243"/>
                </a:cubicBezTo>
                <a:lnTo>
                  <a:pt x="73061" y="292243"/>
                </a:lnTo>
                <a:cubicBezTo>
                  <a:pt x="32737" y="292243"/>
                  <a:pt x="0" y="259505"/>
                  <a:pt x="0" y="219182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57320" y="3852122"/>
            <a:ext cx="111874" cy="127856"/>
          </a:xfrm>
          <a:custGeom>
            <a:avLst/>
            <a:gdLst/>
            <a:ahLst/>
            <a:cxnLst/>
            <a:rect l="l" t="t" r="r" b="b"/>
            <a:pathLst>
              <a:path w="111874" h="127856">
                <a:moveTo>
                  <a:pt x="108578" y="17505"/>
                </a:moveTo>
                <a:cubicBezTo>
                  <a:pt x="112149" y="20102"/>
                  <a:pt x="112948" y="25097"/>
                  <a:pt x="110351" y="28668"/>
                </a:cubicBezTo>
                <a:lnTo>
                  <a:pt x="46423" y="116569"/>
                </a:lnTo>
                <a:cubicBezTo>
                  <a:pt x="45049" y="118467"/>
                  <a:pt x="42927" y="119640"/>
                  <a:pt x="40579" y="119840"/>
                </a:cubicBezTo>
                <a:cubicBezTo>
                  <a:pt x="38232" y="120040"/>
                  <a:pt x="35960" y="119166"/>
                  <a:pt x="34311" y="117518"/>
                </a:cubicBezTo>
                <a:lnTo>
                  <a:pt x="2347" y="85554"/>
                </a:lnTo>
                <a:cubicBezTo>
                  <a:pt x="-774" y="82432"/>
                  <a:pt x="-774" y="77363"/>
                  <a:pt x="2347" y="74241"/>
                </a:cubicBezTo>
                <a:cubicBezTo>
                  <a:pt x="5469" y="71120"/>
                  <a:pt x="10538" y="71120"/>
                  <a:pt x="13660" y="74241"/>
                </a:cubicBezTo>
                <a:lnTo>
                  <a:pt x="39006" y="99588"/>
                </a:lnTo>
                <a:lnTo>
                  <a:pt x="97440" y="19253"/>
                </a:lnTo>
                <a:cubicBezTo>
                  <a:pt x="100037" y="15682"/>
                  <a:pt x="105032" y="14883"/>
                  <a:pt x="108603" y="1748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686" y="3733399"/>
            <a:ext cx="344298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Core Workflows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5261" y="4390945"/>
            <a:ext cx="5242103" cy="694076"/>
          </a:xfrm>
          <a:custGeom>
            <a:avLst/>
            <a:gdLst/>
            <a:ahLst/>
            <a:cxnLst/>
            <a:rect l="l" t="t" r="r" b="b"/>
            <a:pathLst>
              <a:path w="5242103" h="694076">
                <a:moveTo>
                  <a:pt x="73058" y="0"/>
                </a:moveTo>
                <a:lnTo>
                  <a:pt x="5169045" y="0"/>
                </a:lnTo>
                <a:cubicBezTo>
                  <a:pt x="5209394" y="0"/>
                  <a:pt x="5242103" y="32709"/>
                  <a:pt x="5242103" y="73058"/>
                </a:cubicBezTo>
                <a:lnTo>
                  <a:pt x="5242103" y="621018"/>
                </a:lnTo>
                <a:cubicBezTo>
                  <a:pt x="5242103" y="661367"/>
                  <a:pt x="5209394" y="694076"/>
                  <a:pt x="5169045" y="694076"/>
                </a:cubicBezTo>
                <a:lnTo>
                  <a:pt x="73058" y="694076"/>
                </a:lnTo>
                <a:cubicBezTo>
                  <a:pt x="32736" y="694076"/>
                  <a:pt x="0" y="661340"/>
                  <a:pt x="0" y="621018"/>
                </a:cubicBezTo>
                <a:lnTo>
                  <a:pt x="0" y="73058"/>
                </a:lnTo>
                <a:cubicBezTo>
                  <a:pt x="0" y="32709"/>
                  <a:pt x="32709" y="0"/>
                  <a:pt x="73058" y="0"/>
                </a:cubicBez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4852" y="4537066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73061" y="0"/>
                </a:moveTo>
                <a:lnTo>
                  <a:pt x="219182" y="0"/>
                </a:lnTo>
                <a:cubicBezTo>
                  <a:pt x="259505" y="0"/>
                  <a:pt x="292243" y="32737"/>
                  <a:pt x="292243" y="73061"/>
                </a:cubicBezTo>
                <a:lnTo>
                  <a:pt x="292243" y="219182"/>
                </a:lnTo>
                <a:cubicBezTo>
                  <a:pt x="292243" y="259505"/>
                  <a:pt x="259505" y="292243"/>
                  <a:pt x="219182" y="292243"/>
                </a:cubicBezTo>
                <a:lnTo>
                  <a:pt x="73061" y="292243"/>
                </a:lnTo>
                <a:cubicBezTo>
                  <a:pt x="32737" y="292243"/>
                  <a:pt x="0" y="259505"/>
                  <a:pt x="0" y="219182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7320" y="4619259"/>
            <a:ext cx="111874" cy="127856"/>
          </a:xfrm>
          <a:custGeom>
            <a:avLst/>
            <a:gdLst/>
            <a:ahLst/>
            <a:cxnLst/>
            <a:rect l="l" t="t" r="r" b="b"/>
            <a:pathLst>
              <a:path w="111874" h="127856">
                <a:moveTo>
                  <a:pt x="108578" y="17505"/>
                </a:moveTo>
                <a:cubicBezTo>
                  <a:pt x="112149" y="20102"/>
                  <a:pt x="112948" y="25097"/>
                  <a:pt x="110351" y="28668"/>
                </a:cubicBezTo>
                <a:lnTo>
                  <a:pt x="46423" y="116569"/>
                </a:lnTo>
                <a:cubicBezTo>
                  <a:pt x="45049" y="118467"/>
                  <a:pt x="42927" y="119640"/>
                  <a:pt x="40579" y="119840"/>
                </a:cubicBezTo>
                <a:cubicBezTo>
                  <a:pt x="38232" y="120040"/>
                  <a:pt x="35960" y="119166"/>
                  <a:pt x="34311" y="117518"/>
                </a:cubicBezTo>
                <a:lnTo>
                  <a:pt x="2347" y="85554"/>
                </a:lnTo>
                <a:cubicBezTo>
                  <a:pt x="-774" y="82432"/>
                  <a:pt x="-774" y="77363"/>
                  <a:pt x="2347" y="74241"/>
                </a:cubicBezTo>
                <a:cubicBezTo>
                  <a:pt x="5469" y="71120"/>
                  <a:pt x="10538" y="71120"/>
                  <a:pt x="13660" y="74241"/>
                </a:cubicBezTo>
                <a:lnTo>
                  <a:pt x="39006" y="99588"/>
                </a:lnTo>
                <a:lnTo>
                  <a:pt x="97440" y="19253"/>
                </a:lnTo>
                <a:cubicBezTo>
                  <a:pt x="100037" y="15682"/>
                  <a:pt x="105032" y="14883"/>
                  <a:pt x="108603" y="17480"/>
                </a:cubicBez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27" name="Text 25"/>
          <p:cNvSpPr/>
          <p:nvPr/>
        </p:nvSpPr>
        <p:spPr>
          <a:xfrm>
            <a:off x="1066686" y="4500536"/>
            <a:ext cx="3086813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9701" y="1318745"/>
            <a:ext cx="5614713" cy="3952582"/>
          </a:xfrm>
          <a:custGeom>
            <a:avLst/>
            <a:gdLst/>
            <a:ahLst/>
            <a:cxnLst/>
            <a:rect l="l" t="t" r="r" b="b"/>
            <a:pathLst>
              <a:path w="5614713" h="3952582">
                <a:moveTo>
                  <a:pt x="109605" y="0"/>
                </a:moveTo>
                <a:lnTo>
                  <a:pt x="5505108" y="0"/>
                </a:lnTo>
                <a:cubicBezTo>
                  <a:pt x="5565641" y="0"/>
                  <a:pt x="5614713" y="49072"/>
                  <a:pt x="5614713" y="109605"/>
                </a:cubicBezTo>
                <a:lnTo>
                  <a:pt x="5614713" y="3842977"/>
                </a:lnTo>
                <a:cubicBezTo>
                  <a:pt x="5614713" y="3903511"/>
                  <a:pt x="5565641" y="3952582"/>
                  <a:pt x="5505108" y="3952582"/>
                </a:cubicBezTo>
                <a:lnTo>
                  <a:pt x="109605" y="3952582"/>
                </a:lnTo>
                <a:cubicBezTo>
                  <a:pt x="49072" y="3952582"/>
                  <a:pt x="0" y="3903511"/>
                  <a:pt x="0" y="3842977"/>
                </a:cubicBezTo>
                <a:lnTo>
                  <a:pt x="0" y="109605"/>
                </a:lnTo>
                <a:cubicBezTo>
                  <a:pt x="0" y="49112"/>
                  <a:pt x="49112" y="0"/>
                  <a:pt x="109605" y="0"/>
                </a:cubicBezTo>
                <a:close/>
              </a:path>
            </a:pathLst>
          </a:custGeom>
          <a:solidFill>
            <a:srgbClr val="5E7C88">
              <a:alpha val="10196"/>
            </a:srgbClr>
          </a:solidFill>
          <a:ln w="10160">
            <a:solidFill>
              <a:srgbClr val="5E7C88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6006" y="1505048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109591" y="0"/>
                </a:moveTo>
                <a:lnTo>
                  <a:pt x="328773" y="0"/>
                </a:lnTo>
                <a:cubicBezTo>
                  <a:pt x="389258" y="0"/>
                  <a:pt x="438364" y="49106"/>
                  <a:pt x="438364" y="109591"/>
                </a:cubicBezTo>
                <a:lnTo>
                  <a:pt x="438364" y="328773"/>
                </a:lnTo>
                <a:cubicBezTo>
                  <a:pt x="438364" y="389258"/>
                  <a:pt x="389258" y="438364"/>
                  <a:pt x="328773" y="438364"/>
                </a:cubicBezTo>
                <a:lnTo>
                  <a:pt x="109591" y="438364"/>
                </a:lnTo>
                <a:cubicBezTo>
                  <a:pt x="49106" y="438364"/>
                  <a:pt x="0" y="389258"/>
                  <a:pt x="0" y="328773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5E7C88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23862" y="1632904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179298" y="99388"/>
                </a:moveTo>
                <a:cubicBezTo>
                  <a:pt x="183758" y="94929"/>
                  <a:pt x="183758" y="87687"/>
                  <a:pt x="179298" y="83228"/>
                </a:cubicBezTo>
                <a:lnTo>
                  <a:pt x="122220" y="26149"/>
                </a:lnTo>
                <a:cubicBezTo>
                  <a:pt x="117760" y="21690"/>
                  <a:pt x="110519" y="21690"/>
                  <a:pt x="106059" y="26149"/>
                </a:cubicBezTo>
                <a:cubicBezTo>
                  <a:pt x="101600" y="30608"/>
                  <a:pt x="101600" y="37850"/>
                  <a:pt x="106059" y="42310"/>
                </a:cubicBezTo>
                <a:lnTo>
                  <a:pt x="143660" y="79910"/>
                </a:lnTo>
                <a:lnTo>
                  <a:pt x="11416" y="79910"/>
                </a:lnTo>
                <a:cubicBezTo>
                  <a:pt x="5101" y="79910"/>
                  <a:pt x="0" y="85012"/>
                  <a:pt x="0" y="91326"/>
                </a:cubicBezTo>
                <a:cubicBezTo>
                  <a:pt x="0" y="97640"/>
                  <a:pt x="5101" y="102742"/>
                  <a:pt x="11416" y="102742"/>
                </a:cubicBezTo>
                <a:lnTo>
                  <a:pt x="143660" y="102742"/>
                </a:lnTo>
                <a:lnTo>
                  <a:pt x="106059" y="140342"/>
                </a:lnTo>
                <a:cubicBezTo>
                  <a:pt x="101600" y="144801"/>
                  <a:pt x="101600" y="152043"/>
                  <a:pt x="106059" y="156503"/>
                </a:cubicBezTo>
                <a:cubicBezTo>
                  <a:pt x="110519" y="160962"/>
                  <a:pt x="117760" y="160962"/>
                  <a:pt x="122220" y="156503"/>
                </a:cubicBezTo>
                <a:lnTo>
                  <a:pt x="179298" y="99424"/>
                </a:lnTo>
                <a:close/>
              </a:path>
            </a:pathLst>
          </a:custGeom>
          <a:solidFill>
            <a:srgbClr val="C9A86C"/>
          </a:solidFill>
          <a:ln/>
        </p:spPr>
      </p:sp>
      <p:sp>
        <p:nvSpPr>
          <p:cNvPr id="32" name="Text 30"/>
          <p:cNvSpPr/>
          <p:nvPr/>
        </p:nvSpPr>
        <p:spPr>
          <a:xfrm>
            <a:off x="6943961" y="1578109"/>
            <a:ext cx="2986355" cy="292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6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 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6006" y="2089533"/>
            <a:ext cx="5242103" cy="694076"/>
          </a:xfrm>
          <a:custGeom>
            <a:avLst/>
            <a:gdLst/>
            <a:ahLst/>
            <a:cxnLst/>
            <a:rect l="l" t="t" r="r" b="b"/>
            <a:pathLst>
              <a:path w="5242103" h="694076">
                <a:moveTo>
                  <a:pt x="73058" y="0"/>
                </a:moveTo>
                <a:lnTo>
                  <a:pt x="5169045" y="0"/>
                </a:lnTo>
                <a:cubicBezTo>
                  <a:pt x="5209394" y="0"/>
                  <a:pt x="5242103" y="32709"/>
                  <a:pt x="5242103" y="73058"/>
                </a:cubicBezTo>
                <a:lnTo>
                  <a:pt x="5242103" y="621018"/>
                </a:lnTo>
                <a:cubicBezTo>
                  <a:pt x="5242103" y="661367"/>
                  <a:pt x="5209394" y="694076"/>
                  <a:pt x="5169045" y="694076"/>
                </a:cubicBezTo>
                <a:lnTo>
                  <a:pt x="73058" y="694076"/>
                </a:lnTo>
                <a:cubicBezTo>
                  <a:pt x="32736" y="694076"/>
                  <a:pt x="0" y="661340"/>
                  <a:pt x="0" y="621018"/>
                </a:cubicBezTo>
                <a:lnTo>
                  <a:pt x="0" y="73058"/>
                </a:lnTo>
                <a:cubicBezTo>
                  <a:pt x="0" y="32709"/>
                  <a:pt x="32709" y="0"/>
                  <a:pt x="73058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4" name="Shape 32"/>
          <p:cNvSpPr/>
          <p:nvPr/>
        </p:nvSpPr>
        <p:spPr>
          <a:xfrm>
            <a:off x="6505597" y="2235655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73061" y="0"/>
                </a:moveTo>
                <a:lnTo>
                  <a:pt x="219182" y="0"/>
                </a:lnTo>
                <a:cubicBezTo>
                  <a:pt x="259505" y="0"/>
                  <a:pt x="292243" y="32737"/>
                  <a:pt x="292243" y="73061"/>
                </a:cubicBezTo>
                <a:lnTo>
                  <a:pt x="292243" y="219182"/>
                </a:lnTo>
                <a:cubicBezTo>
                  <a:pt x="292243" y="259505"/>
                  <a:pt x="259505" y="292243"/>
                  <a:pt x="219182" y="292243"/>
                </a:cubicBezTo>
                <a:lnTo>
                  <a:pt x="73061" y="292243"/>
                </a:lnTo>
                <a:cubicBezTo>
                  <a:pt x="32737" y="292243"/>
                  <a:pt x="0" y="259505"/>
                  <a:pt x="0" y="219182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631398" y="2290450"/>
            <a:ext cx="100458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07430" y="2199125"/>
            <a:ext cx="4191856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Remaining Workflows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07430" y="2454837"/>
            <a:ext cx="4191856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6006" y="2856671"/>
            <a:ext cx="5242103" cy="694076"/>
          </a:xfrm>
          <a:custGeom>
            <a:avLst/>
            <a:gdLst/>
            <a:ahLst/>
            <a:cxnLst/>
            <a:rect l="l" t="t" r="r" b="b"/>
            <a:pathLst>
              <a:path w="5242103" h="694076">
                <a:moveTo>
                  <a:pt x="73058" y="0"/>
                </a:moveTo>
                <a:lnTo>
                  <a:pt x="5169045" y="0"/>
                </a:lnTo>
                <a:cubicBezTo>
                  <a:pt x="5209394" y="0"/>
                  <a:pt x="5242103" y="32709"/>
                  <a:pt x="5242103" y="73058"/>
                </a:cubicBezTo>
                <a:lnTo>
                  <a:pt x="5242103" y="621018"/>
                </a:lnTo>
                <a:cubicBezTo>
                  <a:pt x="5242103" y="661367"/>
                  <a:pt x="5209394" y="694076"/>
                  <a:pt x="5169045" y="694076"/>
                </a:cubicBezTo>
                <a:lnTo>
                  <a:pt x="73058" y="694076"/>
                </a:lnTo>
                <a:cubicBezTo>
                  <a:pt x="32736" y="694076"/>
                  <a:pt x="0" y="661340"/>
                  <a:pt x="0" y="621018"/>
                </a:cubicBezTo>
                <a:lnTo>
                  <a:pt x="0" y="73058"/>
                </a:lnTo>
                <a:cubicBezTo>
                  <a:pt x="0" y="32709"/>
                  <a:pt x="32709" y="0"/>
                  <a:pt x="73058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05597" y="3002792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73061" y="0"/>
                </a:moveTo>
                <a:lnTo>
                  <a:pt x="219182" y="0"/>
                </a:lnTo>
                <a:cubicBezTo>
                  <a:pt x="259505" y="0"/>
                  <a:pt x="292243" y="32737"/>
                  <a:pt x="292243" y="73061"/>
                </a:cubicBezTo>
                <a:lnTo>
                  <a:pt x="292243" y="219182"/>
                </a:lnTo>
                <a:cubicBezTo>
                  <a:pt x="292243" y="259505"/>
                  <a:pt x="259505" y="292243"/>
                  <a:pt x="219182" y="292243"/>
                </a:cubicBezTo>
                <a:lnTo>
                  <a:pt x="73061" y="292243"/>
                </a:lnTo>
                <a:cubicBezTo>
                  <a:pt x="32737" y="292243"/>
                  <a:pt x="0" y="259505"/>
                  <a:pt x="0" y="219182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619069" y="3057587"/>
            <a:ext cx="127856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07430" y="2966262"/>
            <a:ext cx="3525178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Frontend Dashboard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6006" y="3623808"/>
            <a:ext cx="5242103" cy="694076"/>
          </a:xfrm>
          <a:custGeom>
            <a:avLst/>
            <a:gdLst/>
            <a:ahLst/>
            <a:cxnLst/>
            <a:rect l="l" t="t" r="r" b="b"/>
            <a:pathLst>
              <a:path w="5242103" h="694076">
                <a:moveTo>
                  <a:pt x="73058" y="0"/>
                </a:moveTo>
                <a:lnTo>
                  <a:pt x="5169045" y="0"/>
                </a:lnTo>
                <a:cubicBezTo>
                  <a:pt x="5209394" y="0"/>
                  <a:pt x="5242103" y="32709"/>
                  <a:pt x="5242103" y="73058"/>
                </a:cubicBezTo>
                <a:lnTo>
                  <a:pt x="5242103" y="621018"/>
                </a:lnTo>
                <a:cubicBezTo>
                  <a:pt x="5242103" y="661367"/>
                  <a:pt x="5209394" y="694076"/>
                  <a:pt x="5169045" y="694076"/>
                </a:cubicBezTo>
                <a:lnTo>
                  <a:pt x="73058" y="694076"/>
                </a:lnTo>
                <a:cubicBezTo>
                  <a:pt x="32736" y="694076"/>
                  <a:pt x="0" y="661340"/>
                  <a:pt x="0" y="621018"/>
                </a:cubicBezTo>
                <a:lnTo>
                  <a:pt x="0" y="73058"/>
                </a:lnTo>
                <a:cubicBezTo>
                  <a:pt x="0" y="32709"/>
                  <a:pt x="32709" y="0"/>
                  <a:pt x="73058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05597" y="3769929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73061" y="0"/>
                </a:moveTo>
                <a:lnTo>
                  <a:pt x="219182" y="0"/>
                </a:lnTo>
                <a:cubicBezTo>
                  <a:pt x="259505" y="0"/>
                  <a:pt x="292243" y="32737"/>
                  <a:pt x="292243" y="73061"/>
                </a:cubicBezTo>
                <a:lnTo>
                  <a:pt x="292243" y="219182"/>
                </a:lnTo>
                <a:cubicBezTo>
                  <a:pt x="292243" y="259505"/>
                  <a:pt x="259505" y="292243"/>
                  <a:pt x="219182" y="292243"/>
                </a:cubicBezTo>
                <a:lnTo>
                  <a:pt x="73061" y="292243"/>
                </a:lnTo>
                <a:cubicBezTo>
                  <a:pt x="32737" y="292243"/>
                  <a:pt x="0" y="259505"/>
                  <a:pt x="0" y="219182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617471" y="3824725"/>
            <a:ext cx="136989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07430" y="3733399"/>
            <a:ext cx="4064000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AI Logic Layer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6006" y="4390945"/>
            <a:ext cx="5242103" cy="694076"/>
          </a:xfrm>
          <a:custGeom>
            <a:avLst/>
            <a:gdLst/>
            <a:ahLst/>
            <a:cxnLst/>
            <a:rect l="l" t="t" r="r" b="b"/>
            <a:pathLst>
              <a:path w="5242103" h="694076">
                <a:moveTo>
                  <a:pt x="73058" y="0"/>
                </a:moveTo>
                <a:lnTo>
                  <a:pt x="5169045" y="0"/>
                </a:lnTo>
                <a:cubicBezTo>
                  <a:pt x="5209394" y="0"/>
                  <a:pt x="5242103" y="32709"/>
                  <a:pt x="5242103" y="73058"/>
                </a:cubicBezTo>
                <a:lnTo>
                  <a:pt x="5242103" y="621018"/>
                </a:lnTo>
                <a:cubicBezTo>
                  <a:pt x="5242103" y="661367"/>
                  <a:pt x="5209394" y="694076"/>
                  <a:pt x="5169045" y="694076"/>
                </a:cubicBezTo>
                <a:lnTo>
                  <a:pt x="73058" y="694076"/>
                </a:lnTo>
                <a:cubicBezTo>
                  <a:pt x="32736" y="694076"/>
                  <a:pt x="0" y="661340"/>
                  <a:pt x="0" y="621018"/>
                </a:cubicBezTo>
                <a:lnTo>
                  <a:pt x="0" y="73058"/>
                </a:lnTo>
                <a:cubicBezTo>
                  <a:pt x="0" y="32709"/>
                  <a:pt x="32709" y="0"/>
                  <a:pt x="73058" y="0"/>
                </a:cubicBezTo>
                <a:close/>
              </a:path>
            </a:pathLst>
          </a:custGeom>
          <a:solidFill>
            <a:srgbClr val="5E7C88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05597" y="4537066"/>
            <a:ext cx="292243" cy="292243"/>
          </a:xfrm>
          <a:custGeom>
            <a:avLst/>
            <a:gdLst/>
            <a:ahLst/>
            <a:cxnLst/>
            <a:rect l="l" t="t" r="r" b="b"/>
            <a:pathLst>
              <a:path w="292243" h="292243">
                <a:moveTo>
                  <a:pt x="73061" y="0"/>
                </a:moveTo>
                <a:lnTo>
                  <a:pt x="219182" y="0"/>
                </a:lnTo>
                <a:cubicBezTo>
                  <a:pt x="259505" y="0"/>
                  <a:pt x="292243" y="32737"/>
                  <a:pt x="292243" y="73061"/>
                </a:cubicBezTo>
                <a:lnTo>
                  <a:pt x="292243" y="219182"/>
                </a:lnTo>
                <a:cubicBezTo>
                  <a:pt x="292243" y="259505"/>
                  <a:pt x="259505" y="292243"/>
                  <a:pt x="219182" y="292243"/>
                </a:cubicBezTo>
                <a:lnTo>
                  <a:pt x="73061" y="292243"/>
                </a:lnTo>
                <a:cubicBezTo>
                  <a:pt x="32737" y="292243"/>
                  <a:pt x="0" y="259505"/>
                  <a:pt x="0" y="219182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C9A86C">
              <a:alpha val="3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619183" y="4591862"/>
            <a:ext cx="127856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07430" y="4500536"/>
            <a:ext cx="3032018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Integration &amp; Testing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68956" y="5424760"/>
            <a:ext cx="11459567" cy="774443"/>
          </a:xfrm>
          <a:custGeom>
            <a:avLst/>
            <a:gdLst/>
            <a:ahLst/>
            <a:cxnLst/>
            <a:rect l="l" t="t" r="r" b="b"/>
            <a:pathLst>
              <a:path w="11459567" h="774443">
                <a:moveTo>
                  <a:pt x="73061" y="0"/>
                </a:moveTo>
                <a:lnTo>
                  <a:pt x="11386506" y="0"/>
                </a:lnTo>
                <a:cubicBezTo>
                  <a:pt x="11426856" y="0"/>
                  <a:pt x="11459567" y="32711"/>
                  <a:pt x="11459567" y="73061"/>
                </a:cubicBezTo>
                <a:lnTo>
                  <a:pt x="11459567" y="701382"/>
                </a:lnTo>
                <a:cubicBezTo>
                  <a:pt x="11459567" y="741733"/>
                  <a:pt x="11426856" y="774443"/>
                  <a:pt x="11386506" y="774443"/>
                </a:cubicBezTo>
                <a:lnTo>
                  <a:pt x="73061" y="774443"/>
                </a:lnTo>
                <a:cubicBezTo>
                  <a:pt x="32711" y="774443"/>
                  <a:pt x="0" y="741733"/>
                  <a:pt x="0" y="701382"/>
                </a:cubicBezTo>
                <a:lnTo>
                  <a:pt x="0" y="73061"/>
                </a:lnTo>
                <a:cubicBezTo>
                  <a:pt x="0" y="32738"/>
                  <a:pt x="32738" y="0"/>
                  <a:pt x="73061" y="0"/>
                </a:cubicBezTo>
                <a:close/>
              </a:path>
            </a:pathLst>
          </a:custGeom>
          <a:solidFill>
            <a:srgbClr val="C9A86C">
              <a:alpha val="10196"/>
            </a:srgbClr>
          </a:solidFill>
          <a:ln w="10160">
            <a:solidFill>
              <a:srgbClr val="C9A86C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200" y="5574533"/>
            <a:ext cx="11233079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1" b="1" dirty="0">
                <a:solidFill>
                  <a:srgbClr val="C9A8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Vision:</a:t>
            </a:r>
            <a:r>
              <a:rPr lang="en-US" sz="115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project aims to provide a practical, affordable solution that shifts inventory management from reactive to proactive, making advanced decision support accessible to small retail businesses.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1639</Words>
  <Application>Microsoft Office PowerPoint</Application>
  <PresentationFormat>Widescreen</PresentationFormat>
  <Paragraphs>323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Liter</vt:lpstr>
      <vt:lpstr>Times New Roman</vt:lpstr>
      <vt:lpstr>Quattrocento Sans</vt:lpstr>
      <vt:lpstr>Arial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Supply Chain &amp; Inventory Intelligence System - Review-1</dc:title>
  <dc:subject>AI-Powered Supply Chain &amp; Inventory Intelligence System - Review-1</dc:subject>
  <dc:creator>Kimi</dc:creator>
  <cp:lastModifiedBy>Vyshakh Vijayan</cp:lastModifiedBy>
  <cp:revision>4</cp:revision>
  <dcterms:created xsi:type="dcterms:W3CDTF">2026-02-09T18:26:31Z</dcterms:created>
  <dcterms:modified xsi:type="dcterms:W3CDTF">2026-02-10T07:08:07Z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{"Label":"AI-Powered Supply Chain &amp; Inventory Intelligence System - Review-1","ContentProducer":"001191110108MACG2KBH8F10000","ProduceID":"19c439d5-3a62-8917-8000-000032cde17e","ReservedCode1":"","ContentPropagator":"001191110108MACG2KBH8F20000","PropagateID":"19c439d5-3a62-8917-8000-000032cde17e","ReservedCode2":""}</vt:lpwstr>
  </property>
</Properties>
</file>